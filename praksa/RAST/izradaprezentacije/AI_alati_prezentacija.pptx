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1" r:id="rId4"/>
    <p:sldId id="273" r:id="rId5"/>
    <p:sldId id="274" r:id="rId6"/>
    <p:sldId id="272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4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ALATI UMJETNE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INTELIGENCIJE U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SVAKODANEVNOM ŽIVOTU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3401568"/>
            <a:ext cx="5212080" cy="4023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01568"/>
            <a:ext cx="521208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Za odrasle i osobe starije životne dobi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</a:rPr>
              <a:t>ChatGPT · Google Gemini · Copilot · Canva · Perplexity · NotebookLM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</a:rPr>
              <a:t>Razvojna agencija Split – RaST | SMART CITY LAB  ·  Veljača 2026.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2651760" cy="26517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86200"/>
            <a:ext cx="658368" cy="65836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886200"/>
            <a:ext cx="658368" cy="65836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88620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Što je umjetna inteligencija?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AI nije robot iz filmova — to je računalni program naučen na ogromnim količinama teksta, slika i podataka.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Analogija: zamislite bibliotekara koji je pročitao svaku knjigu ikad napisanu i odmah odgovara na svako pitanje.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AI može razgovarati, pisati tekstove, prevoditi, sažimati dokumente i stvarati slike.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</a:rPr>
              <a:t>Važno: AI ponekad griješi i izmišlja podatke koji zvuče uvjerljivo. Uvijek provjerite važne informacije!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804672"/>
            <a:ext cx="292608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56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32004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Nije čarolija.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Je to oruđe.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C24FEC-0565-DA65-6D87-19D9CAE58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18" y="0"/>
            <a:ext cx="79127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33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A7AE5-03BA-2654-2DCC-948F4173D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AC0B9-B3DB-5156-E439-0E74E192B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43" y="323804"/>
            <a:ext cx="5532375" cy="16305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Graphic 6" descr="Wave Gesture outline">
            <a:extLst>
              <a:ext uri="{FF2B5EF4-FFF2-40B4-BE49-F238E27FC236}">
                <a16:creationId xmlns:a16="http://schemas.microsoft.com/office/drawing/2014/main" id="{9E7967F8-F45B-E87A-BCE0-E14746937C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86" y="1881655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A09ECA-5FD1-363F-2F25-012C896FD358}"/>
              </a:ext>
            </a:extLst>
          </p:cNvPr>
          <p:cNvSpPr/>
          <p:nvPr/>
        </p:nvSpPr>
        <p:spPr>
          <a:xfrm rot="6076246">
            <a:off x="3236748" y="2086630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9B60AD-0DD4-6C83-6391-4357B6E52343}"/>
              </a:ext>
            </a:extLst>
          </p:cNvPr>
          <p:cNvSpPr/>
          <p:nvPr/>
        </p:nvSpPr>
        <p:spPr>
          <a:xfrm rot="21222773">
            <a:off x="4060390" y="2050828"/>
            <a:ext cx="391235" cy="290081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Wave Gesture outline">
            <a:extLst>
              <a:ext uri="{FF2B5EF4-FFF2-40B4-BE49-F238E27FC236}">
                <a16:creationId xmlns:a16="http://schemas.microsoft.com/office/drawing/2014/main" id="{B0BF7C46-CDE7-D9E7-D2C7-860B6DC09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8987" flipH="1">
            <a:off x="5537805" y="2480996"/>
            <a:ext cx="862355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40E0E36-7052-3952-8B8F-0A1AE5C90944}"/>
              </a:ext>
            </a:extLst>
          </p:cNvPr>
          <p:cNvSpPr/>
          <p:nvPr/>
        </p:nvSpPr>
        <p:spPr>
          <a:xfrm rot="6076246">
            <a:off x="4949082" y="2307806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F1636-2C34-ABEF-3225-EFB5272DA51F}"/>
              </a:ext>
            </a:extLst>
          </p:cNvPr>
          <p:cNvSpPr txBox="1"/>
          <p:nvPr/>
        </p:nvSpPr>
        <p:spPr>
          <a:xfrm>
            <a:off x="5805334" y="4159553"/>
            <a:ext cx="2026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CHAT GPT RAZGOVOR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7CD51-8D71-EA5B-7EA5-4A95AC11DD56}"/>
              </a:ext>
            </a:extLst>
          </p:cNvPr>
          <p:cNvSpPr txBox="1"/>
          <p:nvPr/>
        </p:nvSpPr>
        <p:spPr>
          <a:xfrm>
            <a:off x="6471414" y="4498107"/>
            <a:ext cx="1199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ea typeface="ADLaM Display" panose="020F0502020204030204" pitchFamily="2" charset="0"/>
                <a:cs typeface="ADLaM Display" panose="020F0502020204030204" pitchFamily="2" charset="0"/>
              </a:rPr>
              <a:t>KAO ČOVJEK…</a:t>
            </a:r>
          </a:p>
        </p:txBody>
      </p:sp>
    </p:spTree>
    <p:extLst>
      <p:ext uri="{BB962C8B-B14F-4D97-AF65-F5344CB8AC3E}">
        <p14:creationId xmlns:p14="http://schemas.microsoft.com/office/powerpoint/2010/main" val="116959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4BF6AE-432F-7425-469A-D74658C83F1A}"/>
              </a:ext>
            </a:extLst>
          </p:cNvPr>
          <p:cNvSpPr txBox="1"/>
          <p:nvPr/>
        </p:nvSpPr>
        <p:spPr>
          <a:xfrm>
            <a:off x="622259" y="443312"/>
            <a:ext cx="78994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treba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preporuka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za novi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mobitel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koristit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ću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ga za video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pozive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obitelji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društvene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mreže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čitanje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vijesti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preporuči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aplikacije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da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preuzmem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trgovini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mobitel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treba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biti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povoljan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starije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životne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dobi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neću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ga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koristiti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8B4F8-B99F-2E17-E03B-A78685C7EA2E}"/>
              </a:ext>
            </a:extLst>
          </p:cNvPr>
          <p:cNvSpPr txBox="1"/>
          <p:nvPr/>
        </p:nvSpPr>
        <p:spPr>
          <a:xfrm>
            <a:off x="311129" y="2012972"/>
            <a:ext cx="8521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Za </a:t>
            </a:r>
            <a:r>
              <a:rPr lang="en-US" sz="2400" i="1" dirty="0" err="1">
                <a:solidFill>
                  <a:schemeClr val="accent1"/>
                </a:solidFill>
              </a:rPr>
              <a:t>Vaše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potrebe</a:t>
            </a:r>
            <a:r>
              <a:rPr lang="en-US" sz="2400" i="1" dirty="0">
                <a:solidFill>
                  <a:schemeClr val="accent1"/>
                </a:solidFill>
              </a:rPr>
              <a:t> (video </a:t>
            </a:r>
            <a:r>
              <a:rPr lang="en-US" sz="2400" i="1" dirty="0" err="1">
                <a:solidFill>
                  <a:schemeClr val="accent1"/>
                </a:solidFill>
              </a:rPr>
              <a:t>pozivi</a:t>
            </a:r>
            <a:r>
              <a:rPr lang="en-US" sz="2400" i="1" dirty="0">
                <a:solidFill>
                  <a:schemeClr val="accent1"/>
                </a:solidFill>
              </a:rPr>
              <a:t>, </a:t>
            </a:r>
            <a:r>
              <a:rPr lang="en-US" sz="2400" i="1" dirty="0" err="1">
                <a:solidFill>
                  <a:schemeClr val="accent1"/>
                </a:solidFill>
              </a:rPr>
              <a:t>društvene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mreže</a:t>
            </a:r>
            <a:r>
              <a:rPr lang="en-US" sz="2400" i="1" dirty="0">
                <a:solidFill>
                  <a:schemeClr val="accent1"/>
                </a:solidFill>
              </a:rPr>
              <a:t>, </a:t>
            </a:r>
            <a:r>
              <a:rPr lang="en-US" sz="2400" i="1" dirty="0" err="1">
                <a:solidFill>
                  <a:schemeClr val="accent1"/>
                </a:solidFill>
              </a:rPr>
              <a:t>vijesti</a:t>
            </a:r>
            <a:r>
              <a:rPr lang="en-US" sz="2400" i="1" dirty="0">
                <a:solidFill>
                  <a:schemeClr val="accent1"/>
                </a:solidFill>
              </a:rPr>
              <a:t>) </a:t>
            </a:r>
            <a:r>
              <a:rPr lang="en-US" sz="2400" i="1" dirty="0" err="1">
                <a:solidFill>
                  <a:schemeClr val="accent1"/>
                </a:solidFill>
              </a:rPr>
              <a:t>najvažnije</a:t>
            </a:r>
            <a:r>
              <a:rPr lang="en-US" sz="2400" i="1" dirty="0">
                <a:solidFill>
                  <a:schemeClr val="accent1"/>
                </a:solidFill>
              </a:rPr>
              <a:t> je da </a:t>
            </a:r>
            <a:r>
              <a:rPr lang="en-US" sz="2400" i="1" dirty="0" err="1">
                <a:solidFill>
                  <a:schemeClr val="accent1"/>
                </a:solidFill>
              </a:rPr>
              <a:t>mobitel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bude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jednostavan</a:t>
            </a:r>
            <a:r>
              <a:rPr lang="en-US" sz="2400" i="1" dirty="0">
                <a:solidFill>
                  <a:schemeClr val="accent1"/>
                </a:solidFill>
              </a:rPr>
              <a:t> za </a:t>
            </a:r>
            <a:r>
              <a:rPr lang="en-US" sz="2400" i="1" dirty="0" err="1">
                <a:solidFill>
                  <a:schemeClr val="accent1"/>
                </a:solidFill>
              </a:rPr>
              <a:t>korištenje</a:t>
            </a:r>
            <a:r>
              <a:rPr lang="en-US" sz="2400" i="1" dirty="0">
                <a:solidFill>
                  <a:schemeClr val="accent1"/>
                </a:solidFill>
              </a:rPr>
              <a:t>, </a:t>
            </a:r>
            <a:r>
              <a:rPr lang="en-US" sz="2400" i="1" dirty="0" err="1">
                <a:solidFill>
                  <a:schemeClr val="accent1"/>
                </a:solidFill>
              </a:rPr>
              <a:t>ima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dobru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bateriju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i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velik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ekran</a:t>
            </a:r>
            <a:r>
              <a:rPr lang="en-US" sz="2400" i="1" dirty="0">
                <a:solidFill>
                  <a:schemeClr val="accent1"/>
                </a:solidFill>
              </a:rPr>
              <a:t> – ne </a:t>
            </a:r>
            <a:r>
              <a:rPr lang="en-US" sz="2400" i="1" dirty="0" err="1">
                <a:solidFill>
                  <a:schemeClr val="accent1"/>
                </a:solidFill>
              </a:rPr>
              <a:t>treba</a:t>
            </a:r>
            <a:r>
              <a:rPr lang="en-US" sz="2400" i="1" dirty="0">
                <a:solidFill>
                  <a:schemeClr val="accent1"/>
                </a:solidFill>
              </a:rPr>
              <a:t> Vam </a:t>
            </a:r>
            <a:r>
              <a:rPr lang="en-US" sz="2400" i="1" dirty="0" err="1">
                <a:solidFill>
                  <a:schemeClr val="accent1"/>
                </a:solidFill>
              </a:rPr>
              <a:t>skup</a:t>
            </a:r>
            <a:r>
              <a:rPr lang="en-US" sz="2400" i="1" dirty="0">
                <a:solidFill>
                  <a:schemeClr val="accent1"/>
                </a:solidFill>
              </a:rPr>
              <a:t> model. Evo </a:t>
            </a:r>
            <a:r>
              <a:rPr lang="en-US" sz="2400" i="1" dirty="0" err="1">
                <a:solidFill>
                  <a:schemeClr val="accent1"/>
                </a:solidFill>
              </a:rPr>
              <a:t>prijedloga</a:t>
            </a:r>
            <a:r>
              <a:rPr lang="en-US" sz="2400" i="1" dirty="0">
                <a:solidFill>
                  <a:schemeClr val="accent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9830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AE6DC1-13C7-FFFF-F896-AFF427719E54}"/>
              </a:ext>
            </a:extLst>
          </p:cNvPr>
          <p:cNvSpPr txBox="1"/>
          <p:nvPr/>
        </p:nvSpPr>
        <p:spPr>
          <a:xfrm>
            <a:off x="622259" y="741892"/>
            <a:ext cx="7899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Preporuči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mi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lagani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recept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lećom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Umoran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ne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želim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puno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kuhati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80987-7959-561B-8B20-EE90376D8EBC}"/>
              </a:ext>
            </a:extLst>
          </p:cNvPr>
          <p:cNvSpPr txBox="1"/>
          <p:nvPr/>
        </p:nvSpPr>
        <p:spPr>
          <a:xfrm>
            <a:off x="622257" y="2655683"/>
            <a:ext cx="7899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nemam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crvenu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leću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nego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samo</a:t>
            </a:r>
            <a:r>
              <a:rPr lang="en-US" sz="2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zelenu</a:t>
            </a:r>
            <a:endParaRPr lang="en-US" sz="2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692643-40FD-C295-FC42-B5A859EEE604}"/>
              </a:ext>
            </a:extLst>
          </p:cNvPr>
          <p:cNvSpPr txBox="1"/>
          <p:nvPr/>
        </p:nvSpPr>
        <p:spPr>
          <a:xfrm>
            <a:off x="622258" y="1656821"/>
            <a:ext cx="78994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Evo </a:t>
            </a:r>
            <a:r>
              <a:rPr lang="en-US" sz="2400" i="1" dirty="0" err="1">
                <a:solidFill>
                  <a:schemeClr val="accent1"/>
                </a:solidFill>
              </a:rPr>
              <a:t>jedan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baš</a:t>
            </a:r>
            <a:r>
              <a:rPr lang="en-US" sz="2400" i="1" dirty="0">
                <a:solidFill>
                  <a:schemeClr val="accent1"/>
                </a:solidFill>
              </a:rPr>
              <a:t> lagan, </a:t>
            </a:r>
            <a:r>
              <a:rPr lang="en-US" sz="2400" i="1" dirty="0" err="1">
                <a:solidFill>
                  <a:schemeClr val="accent1"/>
                </a:solidFill>
              </a:rPr>
              <a:t>brz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i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ukusan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recept</a:t>
            </a:r>
            <a:r>
              <a:rPr lang="en-US" sz="2400" i="1" dirty="0">
                <a:solidFill>
                  <a:schemeClr val="accent1"/>
                </a:solidFill>
              </a:rPr>
              <a:t> s </a:t>
            </a:r>
            <a:r>
              <a:rPr lang="en-US" sz="2400" i="1" dirty="0" err="1">
                <a:solidFill>
                  <a:schemeClr val="accent1"/>
                </a:solidFill>
              </a:rPr>
              <a:t>lećom</a:t>
            </a:r>
            <a:r>
              <a:rPr lang="en-US" sz="2400" i="1" dirty="0">
                <a:solidFill>
                  <a:schemeClr val="accent1"/>
                </a:solidFill>
              </a:rPr>
              <a:t> – </a:t>
            </a:r>
            <a:r>
              <a:rPr lang="en-US" sz="2400" i="1" dirty="0" err="1">
                <a:solidFill>
                  <a:schemeClr val="accent1"/>
                </a:solidFill>
              </a:rPr>
              <a:t>minimalno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truda</a:t>
            </a:r>
            <a:r>
              <a:rPr lang="en-US" sz="2400" i="1" dirty="0">
                <a:solidFill>
                  <a:schemeClr val="accent1"/>
                </a:solidFill>
              </a:rPr>
              <a:t>, </a:t>
            </a:r>
            <a:r>
              <a:rPr lang="en-US" sz="2400" i="1" dirty="0" err="1">
                <a:solidFill>
                  <a:schemeClr val="accent1"/>
                </a:solidFill>
              </a:rPr>
              <a:t>maksimalno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okusa</a:t>
            </a:r>
            <a:r>
              <a:rPr lang="en-US" sz="2400" i="1" dirty="0">
                <a:solidFill>
                  <a:schemeClr val="accent1"/>
                </a:solidFill>
              </a:rPr>
              <a:t> 😊…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B524AA-BC10-F6C9-BBEE-45A555027485}"/>
              </a:ext>
            </a:extLst>
          </p:cNvPr>
          <p:cNvSpPr txBox="1"/>
          <p:nvPr/>
        </p:nvSpPr>
        <p:spPr>
          <a:xfrm>
            <a:off x="622259" y="3285213"/>
            <a:ext cx="78994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accent1"/>
                </a:solidFill>
              </a:rPr>
              <a:t>Ma </a:t>
            </a:r>
            <a:r>
              <a:rPr lang="en-US" sz="2400" i="1" dirty="0" err="1">
                <a:solidFill>
                  <a:schemeClr val="accent1"/>
                </a:solidFill>
              </a:rPr>
              <a:t>nema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problema</a:t>
            </a:r>
            <a:r>
              <a:rPr lang="en-US" sz="2400" i="1" dirty="0">
                <a:solidFill>
                  <a:schemeClr val="accent1"/>
                </a:solidFill>
              </a:rPr>
              <a:t> — </a:t>
            </a:r>
            <a:r>
              <a:rPr lang="en-US" sz="2400" i="1" dirty="0" err="1">
                <a:solidFill>
                  <a:schemeClr val="accent1"/>
                </a:solidFill>
              </a:rPr>
              <a:t>zelena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leća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isto</a:t>
            </a:r>
            <a:r>
              <a:rPr lang="en-US" sz="2400" i="1" dirty="0">
                <a:solidFill>
                  <a:schemeClr val="accent1"/>
                </a:solidFill>
              </a:rPr>
              <a:t> super </a:t>
            </a:r>
            <a:r>
              <a:rPr lang="en-US" sz="2400" i="1" dirty="0" err="1">
                <a:solidFill>
                  <a:schemeClr val="accent1"/>
                </a:solidFill>
              </a:rPr>
              <a:t>funkcionira</a:t>
            </a:r>
            <a:r>
              <a:rPr lang="en-US" sz="2400" i="1" dirty="0">
                <a:solidFill>
                  <a:schemeClr val="accent1"/>
                </a:solidFill>
              </a:rPr>
              <a:t>, </a:t>
            </a:r>
            <a:r>
              <a:rPr lang="en-US" sz="2400" i="1" dirty="0" err="1">
                <a:solidFill>
                  <a:schemeClr val="accent1"/>
                </a:solidFill>
              </a:rPr>
              <a:t>samo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joj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treba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malo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duže</a:t>
            </a:r>
            <a:r>
              <a:rPr lang="en-US" sz="2400" i="1" dirty="0">
                <a:solidFill>
                  <a:schemeClr val="accent1"/>
                </a:solidFill>
              </a:rPr>
              <a:t> 😊 Evo </a:t>
            </a:r>
            <a:r>
              <a:rPr lang="en-US" sz="2400" i="1" dirty="0" err="1">
                <a:solidFill>
                  <a:schemeClr val="accent1"/>
                </a:solidFill>
              </a:rPr>
              <a:t>prilagođene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verzije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koja</a:t>
            </a:r>
            <a:r>
              <a:rPr lang="en-US" sz="2400" i="1" dirty="0">
                <a:solidFill>
                  <a:schemeClr val="accent1"/>
                </a:solidFill>
              </a:rPr>
              <a:t> je </a:t>
            </a:r>
            <a:r>
              <a:rPr lang="en-US" sz="2400" i="1" dirty="0" err="1">
                <a:solidFill>
                  <a:schemeClr val="accent1"/>
                </a:solidFill>
              </a:rPr>
              <a:t>i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dalje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minimalno</a:t>
            </a:r>
            <a:r>
              <a:rPr lang="en-US" sz="2400" i="1" dirty="0">
                <a:solidFill>
                  <a:schemeClr val="accent1"/>
                </a:solidFill>
              </a:rPr>
              <a:t> </a:t>
            </a:r>
            <a:r>
              <a:rPr lang="en-US" sz="2400" i="1" dirty="0" err="1">
                <a:solidFill>
                  <a:schemeClr val="accent1"/>
                </a:solidFill>
              </a:rPr>
              <a:t>kuhanje</a:t>
            </a:r>
            <a:r>
              <a:rPr lang="en-US" sz="2400" i="1" dirty="0">
                <a:solidFill>
                  <a:schemeClr val="accent1"/>
                </a:solidFill>
              </a:rPr>
              <a:t> + bez </a:t>
            </a:r>
            <a:r>
              <a:rPr lang="en-US" sz="2400" i="1" dirty="0" err="1">
                <a:solidFill>
                  <a:schemeClr val="accent1"/>
                </a:solidFill>
              </a:rPr>
              <a:t>komplikacija</a:t>
            </a:r>
            <a:r>
              <a:rPr lang="en-US" sz="2400" i="1" dirty="0">
                <a:solidFill>
                  <a:schemeClr val="accent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6717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Kako komunicirati s AI-jem? (Prompt)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4444"/>
                </a:solidFill>
              </a:rPr>
              <a:t>Što je pitanje jasnije i detaljnije, to je odgovor bolji: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33856"/>
            <a:ext cx="4023360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338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LOŠI PROMPTOVI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17904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"Piši mi nešto"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"Prevedite"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"Što jesti?"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"Pomozi mi s računom"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133856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338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DOBRI PROMPTOVI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1517904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09344"/>
            <a:ext cx="3703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"Napiši čestitku za 70. rođendan moje prijateljice Marije koja voli more i cvijeće."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"Prevedi s engleskog na hrvatski i koristi formalan ton."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"Imam dijabetes tipa 2. Predloži mi tjedni jelovnik."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</a:rPr>
              <a:t>"Dobio sam račun od HEP-a od 450 €. Objasni mi zašto se tako razlikuje."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Zašto je AI koristan u svakodnevnom životu?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Pisanje poruka i pisama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Žalba, zamolba, čestitka — AI napiše nacrt u sekundi, vi samo prilagodite.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064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Razumijevanje dokumenata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Medicinski nalazi, pravni tekstovi, računi — AI objasni na razumljiv način.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1810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Prijevod i pretraživanje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Trenutni prijevod s engleskog, talijanskog ili njemačkog. Besplatno.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11810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Ideje i kreativnost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2356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Recepti, planiranje putovanja, čestitke, Facebook objave — AI pomaže s idejama.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Pregled najvažnijih AI alata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384048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Alat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Za što je idealan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Gdje se nalazi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ChatGPT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Pisanje, prijevod, objašnjavanje, razgovor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chatgpt.com / App Store / Google Play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Google Gemini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Integracija s Gmailom i Google kalendarom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gemini.google.com / aplikacija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Microsoft Copilot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Ugrađen u Windows, besplatno generira slike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copilot.microsoft.com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Perplexity AI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Svaki odgovor sadrži izvore za provjeru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perplexity.ai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Canva (s AI)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Plakati, čestitke, Facebook objave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canva.com / aplikacija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Google NotebookLM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Bilješke i PDF u podcast razgovor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notebooklm.google.com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ChatGPT: Kreiranje besplatnog računa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029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0292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Koraci za početak (web i mobitel)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4444"/>
                </a:solidFill>
              </a:rPr>
              <a:t>1.   Otvorite chatgpt.com u pregledniku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4444"/>
                </a:solidFill>
              </a:rPr>
              <a:t>2.   Kliknite na 'Sign up' (Registrirajte se)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4444"/>
                </a:solidFill>
              </a:rPr>
              <a:t>3.   Registrirajte se putem Google računa (najjednostavnije)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4444"/>
                </a:solidFill>
              </a:rPr>
              <a:t>4.   Potvrdite e-mail ako ste unijeli ručno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44444"/>
                </a:solidFill>
              </a:rPr>
              <a:t>5.   Odmah ste u razgovoru — bez ikakve instalacije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804672"/>
            <a:ext cx="329184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77840" y="804672"/>
            <a:ext cx="32918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804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POZOR: lažne aplikacije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1298448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U App Storeu i Google Playu postoje </a:t>
            </a:r>
            <a:r>
              <a:rPr lang="en-US" sz="1300" b="1" dirty="0">
                <a:solidFill>
                  <a:srgbClr val="FF6666"/>
                </a:solidFill>
              </a:rPr>
              <a:t>lažne aplikacije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 s imenom 'ChatGPT'.
</a:t>
            </a:r>
            <a:r>
              <a:rPr lang="en-US" sz="1300" b="1" dirty="0">
                <a:solidFill>
                  <a:srgbClr val="FFFFFF"/>
                </a:solidFill>
              </a:rPr>
              <a:t>Prava aplikacija:
</a:t>
            </a:r>
            <a:r>
              <a:rPr lang="en-US" sz="1300" dirty="0">
                <a:solidFill>
                  <a:srgbClr val="AAAAAA"/>
                </a:solidFill>
              </a:rPr>
              <a:t>→ Izdavač: </a:t>
            </a:r>
            <a:r>
              <a:rPr lang="en-US" sz="1300" b="1" dirty="0">
                <a:solidFill>
                  <a:srgbClr val="FFFFFF"/>
                </a:solidFill>
              </a:rPr>
              <a:t>OpenAI
</a:t>
            </a:r>
            <a:r>
              <a:rPr lang="en-US" sz="1300" dirty="0">
                <a:solidFill>
                  <a:srgbClr val="AAAAAA"/>
                </a:solidFill>
              </a:rPr>
              <a:t>→ Bijeli logotip, crna pozadina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Personalizacija ChatGPT-a: postavljanje jednom, vrijedi zauvijek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Osobnost i ton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7 stilova (Friendly, Direct, Nerdy…). Biramo jednim klikom u Settings &gt; Personalization.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064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Prilagođene upute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Jednom upišite tko ste i kako želite odgovore — vrijedi za sve buduće razgovore.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1810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Memorija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ChatGPT pamti vaše podatke između razgovora. Upaliti: Settings &gt; Personalization &gt; Memory.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11810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Projekti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2356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Odvojeni 'projekti' za recepte, zdravlje, obitelj — svaki s vlastitim uputama i memorijom.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Promptovi koji stvarno rade — primjeri za svaki dan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Pisanje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"Napiši formalno pismo kojim se žalim Komunalnom redu Split na rupe u asfaltu. Pismo treba biti uljudno, oko 150 riječi."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Zdravlje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207008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"Liječnik mi je napisao: 'stenoza aortnog zaliska I35.0'. Objasni mi to na jednostavnom hrvatskom, bez žargona."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Prijevod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310128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"Prevedi ovaj tekst s talijanskog na hrvatski i objasni trebam li nešto poduzeti: [umetni tekst]"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0779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907792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Recepti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3310128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</a:rPr>
              <a:t>"Napiši mi recept za pašticadu po dalmatinskoj tradiciji. Imam junetinu, crno vino i sušene šljive."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Generiranje slika: kad AI crta i fotografira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Koji alati generiraju slike?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ChatGPT (besplatno) — DALL-E model, ograničen broj dnevno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Microsoft Copilot (besplatno!) — DALL-E 3, bez plaćanja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Canva AI — Text to Image, idealno za čestitke i postere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Adobe Firefly — firefly.adobe.com, visoka kvaliteta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Google ImageFX — labs.google/experiments/imagefx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Formula za dobru sliku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FORMULA: [Što prikazuje] + [Stil] + [Boje] + [Raspoloženje]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❌ Loše: 'Stara žena na moru'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✓ Dobro: 'Elegantna starica u bijeloj haljini na kamenom zidu kraj mora u Dalmaciji, zalazak sunca, realistično, mirno raspoloženje'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Primjena: čestitke, pozivnice, Facebook objave, slike za ispis!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Tekst koji govori: podcasti, čitanje i diktiranje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Google NotebookLM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Pretvara vaše bilješke i PDF dokumente u podcast s dva AI glasova. Idealno za slušanje umjesto čitanja.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064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ElevenLabs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2356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Unesi tekst i čuj ga kao prirodan govor. Korisno kad su oči umorne ili za slušanje dok hodate.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7432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1810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Glasovni unos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300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iPhone/Android: ikona mikrofona na tipkovnici. ChatGPT: pritisnite mikrofon i govorite.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11810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Google Docs diktiranje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62356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</a:rPr>
              <a:t>Alati &gt; Glasovni unos. Radi s mikrofonom računala — pišite bez tipkanja.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za kreativne projekte i društvene mreže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Projekt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Opis aktivnosti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Facebook objava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ChatGPT piše toplu objavu za obljetnice, putopise ili fotografije iz Dalmacije.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Digitalni obiteljski album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Opišite AI-ju fotografije iz prošlosti — AI piše opise. Kombinirajte u Canvi.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Osobna poezija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AI piše pjesmu o rodnom gradu, djetinjstvu ili dragoj osobi prema vašem opisu.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Obiteljski recept digitalno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Diktirajte recept glasom, AI ga formatira, Canva uredi vizualno — ispiši i uokviride.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Personalizirana razglednica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44444"/>
                          </a:solidFill>
                        </a:rPr>
                        <a:t>Kombinirajte AI tekst + AI sliku — ispišite kao pravi suvenir iz Dalmacije.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Što AI radi loše i što NIKADA ne smijete unositi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Ograničenja AI-ja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Izmišlja podatke koji zvuče uvjerljivo — uvijek provjerite medicinsku, pravnu i financijsku informaciju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 zna uvijek najnovije vijesti (koristite Perplexity ili Gemini za aktualne teme)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 može zamijeniti liječnika — dijagnozu i terapiju određuje liječnik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Ne može zamijeniti odvjetnika — pravni savjeti su generalni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</a:rPr>
              <a:t>Može biti pristran — kritičko razmišljanje je uvijek nužno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⛔  NIKADA ne unosite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</a:rPr>
              <a:t>Lozinke, PIN kodove i pristupne podatke bankarstva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</a:rPr>
              <a:t>Broj kreditne ili debitne kartice i CVV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</a:rPr>
              <a:t>OIB (osobni identifikacijski broj)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</a:rPr>
              <a:t>Podatke putovnice ili osobne iskaznice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</a:rPr>
              <a:t>Fotografije osobnih dokumenata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EEEEE"/>
                </a:solidFill>
              </a:rPr>
              <a:t>Povjerljive poslovne informacije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Koji alat za koji zadatak?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Zadatak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Preporučeni alat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Savjet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Pisanje pisama i e-mailova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ChatGPT, Gemini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Dajte kontekst: kome pišete, zašto, koji ton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Prijevod teksta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ChatGPT, DeepL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DeepL (deepl.com) specijaliziran, često bolji za prijevod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Medicinska pitanja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ChatGPT, Perplexity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Uvijek tražite izvore i konzultirati liječnika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Sažimanje dugačkih tekstova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Gemini, NotebookLM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Kopirajte tekst ili zalijepite link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Generiranje slika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Copilot (besplatno!), Canva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Copilot je najlakši za početnike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Podcast iz teksta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NotebookLM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</a:rPr>
                        <a:t>Google račun dovoljan, besplatno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Moj prvi tjedan s AI alatima — Checklista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☐  Kreirao/la sam besplatan ChatGPT račun na chatgpt.com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☐  Instalirao/la sam ChatGPT ili Gemini aplikaciju na mobitel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☐  Poslao/la sam prvi prompt ChatGPT-u i dobio/la odgovor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☐  Isprobao/la sam glasovni unos (mikrofon u aplikaciji)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☐  Učitao/la fotografiju u ChatGPT i postavio/la pitanje o njoj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☐  Otvorio/la Canva.com i pregledao/la predloške čestitaka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☐  Isprobao/la generiranje slike u Copilot-u ili ChatGPT-u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☐  Osjetljive podatke (PIN, OIB, lozinka) NIKAD ne unosim u AI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C0000"/>
                </a:solidFill>
              </a:rPr>
              <a:t>Zaključak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6583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AI nije opasan ni zastrašujuć — to je alat poput mobitela. Uči se upotrebom.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Besplatno je dovoljno: ChatGPT, Gemini, Copilot i Canva zadovoljavaju 90% potreba.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AI griješi — provjera informacija ostaje naša odgovornost.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Osobni podaci = tabu: PIN, OIB, lozinka, broj kartice nikad ne idu u chatbot.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DDDDD"/>
                </a:solidFill>
              </a:rPr>
              <a:t>Počnite malo — jedan prompt dnevno je dovoljan start. Za tjedan dana imat ćete naviku.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4074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8888"/>
                </a:solidFill>
              </a:rPr>
              <a:t>AI je alat. Vi ste mozak koji ga koristi.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chatgpt.com  ·  gemini.google.com  ·  canva.com  ·  perplexity.ai  ·  notebooklm.google.com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85800"/>
            <a:ext cx="182880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Pitanja?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1568</Words>
  <Application>Microsoft Office PowerPoint</Application>
  <PresentationFormat>On-screen Show (16:9)</PresentationFormat>
  <Paragraphs>195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ADLaM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Alati u Svakodnevnom Životu</dc:title>
  <dc:subject>PptxGenJS Presentation</dc:subject>
  <dc:creator>PptxGenJS</dc:creator>
  <cp:lastModifiedBy>Bruno Bilandžić</cp:lastModifiedBy>
  <cp:revision>2</cp:revision>
  <dcterms:created xsi:type="dcterms:W3CDTF">2026-03-19T08:36:54Z</dcterms:created>
  <dcterms:modified xsi:type="dcterms:W3CDTF">2026-03-31T12:26:34Z</dcterms:modified>
</cp:coreProperties>
</file>