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3" r:id="rId4"/>
    <p:sldId id="274" r:id="rId5"/>
    <p:sldId id="272" r:id="rId6"/>
    <p:sldId id="258" r:id="rId7"/>
    <p:sldId id="276" r:id="rId8"/>
    <p:sldId id="259" r:id="rId9"/>
    <p:sldId id="260" r:id="rId10"/>
    <p:sldId id="261" r:id="rId11"/>
    <p:sldId id="262" r:id="rId12"/>
    <p:sldId id="263" r:id="rId13"/>
    <p:sldId id="264" r:id="rId14"/>
    <p:sldId id="278" r:id="rId15"/>
    <p:sldId id="277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042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9A58D-4684-9152-5C86-DF72BB7DD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3203B-9F66-2ED1-538A-A09BA439D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846A2-CD33-B09C-4FFC-7072A113D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DB4416-7069-D1AF-8753-3F5BCB7827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1877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F03B0-8B6C-4A50-E56E-F23DD95B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3635E8-5E5A-72D5-6C19-8C3F5A018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5DA50-CFC5-6514-D48E-EF991A897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0CE7F-66F7-1296-A778-8B13AD8FBA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627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jpeg"/><Relationship Id="rId5" Type="http://schemas.openxmlformats.org/officeDocument/2006/relationships/image" Target="../media/image28.jpe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3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ALATI UMJETNE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INTELIGENCIJE U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SVAKODANEVNOM ŽIVOTU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ChatGPT · Google Gemini · Copilot · Canva · Perplexity · NotebookLM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Što je umjetna inteligencija?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AI nije robot iz filmova — to je računalni program naučen na ogromnim količinama teksta, slika i podataka.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Analogija: zamislite bibliotekara koji je pročitao svaku knjigu ikad napisanu i odmah odgovara na svako pitanje.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AI može razgovarati, pisati tekstove, prevoditi, sažimati dokumente i stvarati slike.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</a:rPr>
              <a:t>Važno: AI ponekad griješi i izmišlja podatke koji zvuče uvjerljivo. Uvijek provjerite važne informacije!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051560"/>
            <a:ext cx="1920240" cy="1920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3200400"/>
            <a:ext cx="2834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Nije čarolija.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 to oruđe.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A7AE5-03BA-2654-2DCC-948F4173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3AC0B9-B3DB-5156-E439-0E74E192B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343" y="323804"/>
            <a:ext cx="5532375" cy="163054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7" name="Graphic 6" descr="Wave Gesture outline">
            <a:extLst>
              <a:ext uri="{FF2B5EF4-FFF2-40B4-BE49-F238E27FC236}">
                <a16:creationId xmlns:a16="http://schemas.microsoft.com/office/drawing/2014/main" id="{9E7967F8-F45B-E87A-BCE0-E14746937C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8886" y="1881655"/>
            <a:ext cx="914400" cy="914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A09ECA-5FD1-363F-2F25-012C896FD358}"/>
              </a:ext>
            </a:extLst>
          </p:cNvPr>
          <p:cNvSpPr/>
          <p:nvPr/>
        </p:nvSpPr>
        <p:spPr>
          <a:xfrm rot="6076246">
            <a:off x="3236748" y="2086630"/>
            <a:ext cx="174674" cy="1418851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Wave Gesture outline">
            <a:extLst>
              <a:ext uri="{FF2B5EF4-FFF2-40B4-BE49-F238E27FC236}">
                <a16:creationId xmlns:a16="http://schemas.microsoft.com/office/drawing/2014/main" id="{B0BF7C46-CDE7-D9E7-D2C7-860B6DC096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548987" flipH="1">
            <a:off x="5537805" y="2480996"/>
            <a:ext cx="862355" cy="9144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0E0E36-7052-3952-8B8F-0A1AE5C90944}"/>
              </a:ext>
            </a:extLst>
          </p:cNvPr>
          <p:cNvSpPr/>
          <p:nvPr/>
        </p:nvSpPr>
        <p:spPr>
          <a:xfrm rot="6076246">
            <a:off x="4949082" y="2307806"/>
            <a:ext cx="174674" cy="1418851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5F1636-2C34-ABEF-3225-EFB5272DA51F}"/>
              </a:ext>
            </a:extLst>
          </p:cNvPr>
          <p:cNvSpPr txBox="1"/>
          <p:nvPr/>
        </p:nvSpPr>
        <p:spPr>
          <a:xfrm>
            <a:off x="5805334" y="4159553"/>
            <a:ext cx="20265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CHAT GPT RAZGOVOR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7CD51-8D71-EA5B-7EA5-4A95AC11DD56}"/>
              </a:ext>
            </a:extLst>
          </p:cNvPr>
          <p:cNvSpPr txBox="1"/>
          <p:nvPr/>
        </p:nvSpPr>
        <p:spPr>
          <a:xfrm>
            <a:off x="6471414" y="4498107"/>
            <a:ext cx="11993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F0502020204030204" pitchFamily="2" charset="0"/>
                <a:cs typeface="ADLaM Display" panose="020F0502020204030204" pitchFamily="2" charset="0"/>
              </a:rPr>
              <a:t>KAO ČOVJEK…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9B60AD-0DD4-6C83-6391-4357B6E52343}"/>
              </a:ext>
            </a:extLst>
          </p:cNvPr>
          <p:cNvSpPr/>
          <p:nvPr/>
        </p:nvSpPr>
        <p:spPr>
          <a:xfrm rot="21222773">
            <a:off x="4087749" y="2049325"/>
            <a:ext cx="391235" cy="3400487"/>
          </a:xfrm>
          <a:prstGeom prst="rect">
            <a:avLst/>
          </a:prstGeom>
          <a:solidFill>
            <a:schemeClr val="bg2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597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24BF6AE-432F-7425-469A-D74658C83F1A}"/>
              </a:ext>
            </a:extLst>
          </p:cNvPr>
          <p:cNvSpPr txBox="1"/>
          <p:nvPr/>
        </p:nvSpPr>
        <p:spPr>
          <a:xfrm>
            <a:off x="622259" y="443312"/>
            <a:ext cx="78994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treba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preporuka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za novi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mobitel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koristit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ću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ga za video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pozive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s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obitelji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društvene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mreže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čitanje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vijesti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preporuči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aplikacije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koje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preuzmem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trgovini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mobitel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treba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biti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povoljan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starije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životne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dobi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neću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ga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puno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koristiti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8B4F8-B99F-2E17-E03B-A78685C7EA2E}"/>
              </a:ext>
            </a:extLst>
          </p:cNvPr>
          <p:cNvSpPr txBox="1"/>
          <p:nvPr/>
        </p:nvSpPr>
        <p:spPr>
          <a:xfrm>
            <a:off x="311129" y="2012972"/>
            <a:ext cx="8521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</a:rPr>
              <a:t>Za </a:t>
            </a:r>
            <a:r>
              <a:rPr lang="en-US" sz="2400" i="1" dirty="0" err="1">
                <a:solidFill>
                  <a:schemeClr val="accent1"/>
                </a:solidFill>
              </a:rPr>
              <a:t>Vaše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potrebe</a:t>
            </a:r>
            <a:r>
              <a:rPr lang="en-US" sz="2400" i="1" dirty="0">
                <a:solidFill>
                  <a:schemeClr val="accent1"/>
                </a:solidFill>
              </a:rPr>
              <a:t> (video </a:t>
            </a:r>
            <a:r>
              <a:rPr lang="en-US" sz="2400" i="1" dirty="0" err="1">
                <a:solidFill>
                  <a:schemeClr val="accent1"/>
                </a:solidFill>
              </a:rPr>
              <a:t>pozivi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društvene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mreže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vijesti</a:t>
            </a:r>
            <a:r>
              <a:rPr lang="en-US" sz="2400" i="1" dirty="0">
                <a:solidFill>
                  <a:schemeClr val="accent1"/>
                </a:solidFill>
              </a:rPr>
              <a:t>) </a:t>
            </a:r>
            <a:r>
              <a:rPr lang="en-US" sz="2400" i="1" dirty="0" err="1">
                <a:solidFill>
                  <a:schemeClr val="accent1"/>
                </a:solidFill>
              </a:rPr>
              <a:t>najvažnije</a:t>
            </a:r>
            <a:r>
              <a:rPr lang="en-US" sz="2400" i="1" dirty="0">
                <a:solidFill>
                  <a:schemeClr val="accent1"/>
                </a:solidFill>
              </a:rPr>
              <a:t> je da </a:t>
            </a:r>
            <a:r>
              <a:rPr lang="en-US" sz="2400" i="1" dirty="0" err="1">
                <a:solidFill>
                  <a:schemeClr val="accent1"/>
                </a:solidFill>
              </a:rPr>
              <a:t>mobitel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bude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jednostavan</a:t>
            </a:r>
            <a:r>
              <a:rPr lang="en-US" sz="2400" i="1" dirty="0">
                <a:solidFill>
                  <a:schemeClr val="accent1"/>
                </a:solidFill>
              </a:rPr>
              <a:t> za </a:t>
            </a:r>
            <a:r>
              <a:rPr lang="en-US" sz="2400" i="1" dirty="0" err="1">
                <a:solidFill>
                  <a:schemeClr val="accent1"/>
                </a:solidFill>
              </a:rPr>
              <a:t>korištenje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ima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dobru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bateriju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i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velik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ekran</a:t>
            </a:r>
            <a:r>
              <a:rPr lang="en-US" sz="2400" i="1" dirty="0">
                <a:solidFill>
                  <a:schemeClr val="accent1"/>
                </a:solidFill>
              </a:rPr>
              <a:t> – ne </a:t>
            </a:r>
            <a:r>
              <a:rPr lang="en-US" sz="2400" i="1" dirty="0" err="1">
                <a:solidFill>
                  <a:schemeClr val="accent1"/>
                </a:solidFill>
              </a:rPr>
              <a:t>treba</a:t>
            </a:r>
            <a:r>
              <a:rPr lang="en-US" sz="2400" i="1" dirty="0">
                <a:solidFill>
                  <a:schemeClr val="accent1"/>
                </a:solidFill>
              </a:rPr>
              <a:t> Vam </a:t>
            </a:r>
            <a:r>
              <a:rPr lang="en-US" sz="2400" i="1" dirty="0" err="1">
                <a:solidFill>
                  <a:schemeClr val="accent1"/>
                </a:solidFill>
              </a:rPr>
              <a:t>skup</a:t>
            </a:r>
            <a:r>
              <a:rPr lang="en-US" sz="2400" i="1" dirty="0">
                <a:solidFill>
                  <a:schemeClr val="accent1"/>
                </a:solidFill>
              </a:rPr>
              <a:t> model. Evo </a:t>
            </a:r>
            <a:r>
              <a:rPr lang="en-US" sz="2400" i="1" dirty="0" err="1">
                <a:solidFill>
                  <a:schemeClr val="accent1"/>
                </a:solidFill>
              </a:rPr>
              <a:t>prijedloga</a:t>
            </a:r>
            <a:r>
              <a:rPr lang="en-US" sz="2400" i="1" dirty="0">
                <a:solidFill>
                  <a:schemeClr val="accent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98304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AE6DC1-13C7-FFFF-F896-AFF427719E54}"/>
              </a:ext>
            </a:extLst>
          </p:cNvPr>
          <p:cNvSpPr txBox="1"/>
          <p:nvPr/>
        </p:nvSpPr>
        <p:spPr>
          <a:xfrm>
            <a:off x="622259" y="741892"/>
            <a:ext cx="78994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Preporuči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mi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lagani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recept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lećom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Umoran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/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ne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želim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puno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kuhati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80987-7959-561B-8B20-EE90376D8EBC}"/>
              </a:ext>
            </a:extLst>
          </p:cNvPr>
          <p:cNvSpPr txBox="1"/>
          <p:nvPr/>
        </p:nvSpPr>
        <p:spPr>
          <a:xfrm>
            <a:off x="622257" y="2655683"/>
            <a:ext cx="78994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nemam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crvenu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leću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nego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samo</a:t>
            </a:r>
            <a:r>
              <a:rPr lang="en-US" sz="2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2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zelenu</a:t>
            </a:r>
            <a:endParaRPr lang="en-US" sz="24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92643-40FD-C295-FC42-B5A859EEE604}"/>
              </a:ext>
            </a:extLst>
          </p:cNvPr>
          <p:cNvSpPr txBox="1"/>
          <p:nvPr/>
        </p:nvSpPr>
        <p:spPr>
          <a:xfrm>
            <a:off x="622258" y="1656821"/>
            <a:ext cx="78994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</a:rPr>
              <a:t>Evo </a:t>
            </a:r>
            <a:r>
              <a:rPr lang="en-US" sz="2400" i="1" dirty="0" err="1">
                <a:solidFill>
                  <a:schemeClr val="accent1"/>
                </a:solidFill>
              </a:rPr>
              <a:t>jedan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baš</a:t>
            </a:r>
            <a:r>
              <a:rPr lang="en-US" sz="2400" i="1" dirty="0">
                <a:solidFill>
                  <a:schemeClr val="accent1"/>
                </a:solidFill>
              </a:rPr>
              <a:t> lagan, </a:t>
            </a:r>
            <a:r>
              <a:rPr lang="en-US" sz="2400" i="1" dirty="0" err="1">
                <a:solidFill>
                  <a:schemeClr val="accent1"/>
                </a:solidFill>
              </a:rPr>
              <a:t>brz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i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ukusan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recept</a:t>
            </a:r>
            <a:r>
              <a:rPr lang="en-US" sz="2400" i="1" dirty="0">
                <a:solidFill>
                  <a:schemeClr val="accent1"/>
                </a:solidFill>
              </a:rPr>
              <a:t> s </a:t>
            </a:r>
            <a:r>
              <a:rPr lang="en-US" sz="2400" i="1" dirty="0" err="1">
                <a:solidFill>
                  <a:schemeClr val="accent1"/>
                </a:solidFill>
              </a:rPr>
              <a:t>lećom</a:t>
            </a:r>
            <a:r>
              <a:rPr lang="en-US" sz="2400" i="1" dirty="0">
                <a:solidFill>
                  <a:schemeClr val="accent1"/>
                </a:solidFill>
              </a:rPr>
              <a:t> – </a:t>
            </a:r>
            <a:r>
              <a:rPr lang="en-US" sz="2400" i="1" dirty="0" err="1">
                <a:solidFill>
                  <a:schemeClr val="accent1"/>
                </a:solidFill>
              </a:rPr>
              <a:t>minimalno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truda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maksimalno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okusa</a:t>
            </a:r>
            <a:r>
              <a:rPr lang="en-US" sz="2400" i="1" dirty="0">
                <a:solidFill>
                  <a:schemeClr val="accent1"/>
                </a:solidFill>
              </a:rPr>
              <a:t> 😊…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B524AA-BC10-F6C9-BBEE-45A555027485}"/>
              </a:ext>
            </a:extLst>
          </p:cNvPr>
          <p:cNvSpPr txBox="1"/>
          <p:nvPr/>
        </p:nvSpPr>
        <p:spPr>
          <a:xfrm>
            <a:off x="622259" y="3285213"/>
            <a:ext cx="78994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chemeClr val="accent1"/>
                </a:solidFill>
              </a:rPr>
              <a:t>Ma </a:t>
            </a:r>
            <a:r>
              <a:rPr lang="en-US" sz="2400" i="1" dirty="0" err="1">
                <a:solidFill>
                  <a:schemeClr val="accent1"/>
                </a:solidFill>
              </a:rPr>
              <a:t>nema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problema</a:t>
            </a:r>
            <a:r>
              <a:rPr lang="en-US" sz="2400" i="1" dirty="0">
                <a:solidFill>
                  <a:schemeClr val="accent1"/>
                </a:solidFill>
              </a:rPr>
              <a:t> — </a:t>
            </a:r>
            <a:r>
              <a:rPr lang="en-US" sz="2400" i="1" dirty="0" err="1">
                <a:solidFill>
                  <a:schemeClr val="accent1"/>
                </a:solidFill>
              </a:rPr>
              <a:t>zelena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leća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isto</a:t>
            </a:r>
            <a:r>
              <a:rPr lang="en-US" sz="2400" i="1" dirty="0">
                <a:solidFill>
                  <a:schemeClr val="accent1"/>
                </a:solidFill>
              </a:rPr>
              <a:t> super </a:t>
            </a:r>
            <a:r>
              <a:rPr lang="en-US" sz="2400" i="1" dirty="0" err="1">
                <a:solidFill>
                  <a:schemeClr val="accent1"/>
                </a:solidFill>
              </a:rPr>
              <a:t>funkcionira</a:t>
            </a:r>
            <a:r>
              <a:rPr lang="en-US" sz="2400" i="1" dirty="0">
                <a:solidFill>
                  <a:schemeClr val="accent1"/>
                </a:solidFill>
              </a:rPr>
              <a:t>, </a:t>
            </a:r>
            <a:r>
              <a:rPr lang="en-US" sz="2400" i="1" dirty="0" err="1">
                <a:solidFill>
                  <a:schemeClr val="accent1"/>
                </a:solidFill>
              </a:rPr>
              <a:t>samo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joj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treba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malo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duže</a:t>
            </a:r>
            <a:r>
              <a:rPr lang="en-US" sz="2400" i="1" dirty="0">
                <a:solidFill>
                  <a:schemeClr val="accent1"/>
                </a:solidFill>
              </a:rPr>
              <a:t> 😊 Evo </a:t>
            </a:r>
            <a:r>
              <a:rPr lang="en-US" sz="2400" i="1" dirty="0" err="1">
                <a:solidFill>
                  <a:schemeClr val="accent1"/>
                </a:solidFill>
              </a:rPr>
              <a:t>prilagođene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verzije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koja</a:t>
            </a:r>
            <a:r>
              <a:rPr lang="en-US" sz="2400" i="1" dirty="0">
                <a:solidFill>
                  <a:schemeClr val="accent1"/>
                </a:solidFill>
              </a:rPr>
              <a:t> je </a:t>
            </a:r>
            <a:r>
              <a:rPr lang="en-US" sz="2400" i="1" dirty="0" err="1">
                <a:solidFill>
                  <a:schemeClr val="accent1"/>
                </a:solidFill>
              </a:rPr>
              <a:t>i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dalje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minimalno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 err="1">
                <a:solidFill>
                  <a:schemeClr val="accent1"/>
                </a:solidFill>
              </a:rPr>
              <a:t>kuhanje</a:t>
            </a:r>
            <a:r>
              <a:rPr lang="en-US" sz="2400" i="1" dirty="0">
                <a:solidFill>
                  <a:schemeClr val="accent1"/>
                </a:solidFill>
              </a:rPr>
              <a:t> + bez </a:t>
            </a:r>
            <a:r>
              <a:rPr lang="en-US" sz="2400" i="1" dirty="0" err="1">
                <a:solidFill>
                  <a:schemeClr val="accent1"/>
                </a:solidFill>
              </a:rPr>
              <a:t>komplikacija</a:t>
            </a:r>
            <a:r>
              <a:rPr lang="en-US" sz="2400" i="1" dirty="0">
                <a:solidFill>
                  <a:schemeClr val="accent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67172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Kako komunicirati s AI-jem? (Prompt)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44444"/>
                </a:solidFill>
              </a:rPr>
              <a:t>Što je pitanje jasnije i detaljnije, to je odgovor bolji: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33856"/>
            <a:ext cx="4023360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1338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❌  LOŠI PROMPTOVI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517904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1609344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"Piši mi nešto"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"Prevedite"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"Što jesti?"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"Pomozi mi s računom"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46320" y="1133856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1338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✓  DOBRI PROMPTOVI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1517904"/>
            <a:ext cx="402336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0" y="1609344"/>
            <a:ext cx="3703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"Napiši čestitku za 70. rođendan moje prijateljice Marije koja voli more i cvijeće."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"Prevedi s engleskog na hrvatski i koristi formalan ton."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"Imam dijabetes tipa 2. Predloži mi tjedni jelovnik."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"Dobio sam račun od HEP-a od 450 €. Objasni mi zašto se tako razlikuje."</a:t>
            </a:r>
            <a:endParaRPr lang="en-US" sz="1200" dirty="0"/>
          </a:p>
        </p:txBody>
      </p:sp>
      <p:pic>
        <p:nvPicPr>
          <p:cNvPr id="1026" name="Picture 2" descr="Prompt engineering Generic Others icon ...">
            <a:extLst>
              <a:ext uri="{FF2B5EF4-FFF2-40B4-BE49-F238E27FC236}">
                <a16:creationId xmlns:a16="http://schemas.microsoft.com/office/drawing/2014/main" id="{32587071-035C-C378-CD2B-062EF4A50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4009" y="3440536"/>
            <a:ext cx="1700862" cy="1369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rompt engineering Icon - Free PNG &amp; SVG 6606597 - Noun Project">
            <a:extLst>
              <a:ext uri="{FF2B5EF4-FFF2-40B4-BE49-F238E27FC236}">
                <a16:creationId xmlns:a16="http://schemas.microsoft.com/office/drawing/2014/main" id="{F6CD6BEC-C2DC-FD89-A0A5-4119189C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2587" y="3397531"/>
            <a:ext cx="1412213" cy="141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D7971-0F97-2C89-95F9-E6EC5B1C2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84B0A1B-6B67-AF85-502A-135A3408D7B1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F7B2B4-725A-0871-3B68-4C8F13FEA7F9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Uređivanje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generiranog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teksta</a:t>
            </a:r>
            <a:r>
              <a:rPr lang="en-US" sz="2000" b="1" dirty="0">
                <a:solidFill>
                  <a:srgbClr val="FFFFFF"/>
                </a:solidFill>
              </a:rPr>
              <a:t> za </a:t>
            </a:r>
            <a:r>
              <a:rPr lang="en-US" sz="2000" b="1" dirty="0" err="1">
                <a:solidFill>
                  <a:srgbClr val="FFFFFF"/>
                </a:solidFill>
              </a:rPr>
              <a:t>dijeljenje</a:t>
            </a:r>
            <a:endParaRPr lang="en-US" sz="2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A2E077-601D-0549-DE37-6EAFDC91A16E}"/>
              </a:ext>
            </a:extLst>
          </p:cNvPr>
          <p:cNvSpPr/>
          <p:nvPr/>
        </p:nvSpPr>
        <p:spPr>
          <a:xfrm>
            <a:off x="274320" y="882095"/>
            <a:ext cx="4322449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FCF1222-0D55-BA68-7A24-38629B026C6D}"/>
              </a:ext>
            </a:extLst>
          </p:cNvPr>
          <p:cNvSpPr/>
          <p:nvPr/>
        </p:nvSpPr>
        <p:spPr>
          <a:xfrm>
            <a:off x="274320" y="882095"/>
            <a:ext cx="43224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COPY PASTE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6EBD7C9-632D-BC94-0D70-9F9CE7D663E5}"/>
              </a:ext>
            </a:extLst>
          </p:cNvPr>
          <p:cNvSpPr/>
          <p:nvPr/>
        </p:nvSpPr>
        <p:spPr>
          <a:xfrm>
            <a:off x="457199" y="1357583"/>
            <a:ext cx="4114801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AI </a:t>
            </a:r>
            <a:r>
              <a:rPr lang="en-US" sz="1400" dirty="0" err="1">
                <a:solidFill>
                  <a:srgbClr val="444444"/>
                </a:solidFill>
              </a:rPr>
              <a:t>služi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kao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temelj</a:t>
            </a:r>
            <a:r>
              <a:rPr lang="en-US" sz="1400" dirty="0">
                <a:solidFill>
                  <a:srgbClr val="444444"/>
                </a:solidFill>
              </a:rPr>
              <a:t>, </a:t>
            </a:r>
            <a:r>
              <a:rPr lang="en-US" sz="1400" dirty="0" err="1">
                <a:solidFill>
                  <a:srgbClr val="444444"/>
                </a:solidFill>
              </a:rPr>
              <a:t>ali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odgovore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možemo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dodatno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urediti</a:t>
            </a:r>
            <a:endParaRPr lang="en-US" sz="14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444444"/>
                </a:solidFill>
              </a:rPr>
              <a:t>Klikom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ikonu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slici</a:t>
            </a:r>
            <a:r>
              <a:rPr lang="en-US" sz="1400" dirty="0">
                <a:solidFill>
                  <a:srgbClr val="444444"/>
                </a:solidFill>
              </a:rPr>
              <a:t> ChatGPT </a:t>
            </a:r>
            <a:r>
              <a:rPr lang="en-US" sz="1400" dirty="0" err="1">
                <a:solidFill>
                  <a:srgbClr val="444444"/>
                </a:solidFill>
              </a:rPr>
              <a:t>odgovor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kopiramo</a:t>
            </a:r>
            <a:endParaRPr lang="en-US" sz="14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444444"/>
                </a:solidFill>
              </a:rPr>
              <a:t>Kopirani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tekst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zalijepimo</a:t>
            </a:r>
            <a:r>
              <a:rPr lang="en-US" sz="1400" dirty="0">
                <a:solidFill>
                  <a:srgbClr val="444444"/>
                </a:solidFill>
              </a:rPr>
              <a:t> u </a:t>
            </a:r>
            <a:r>
              <a:rPr lang="en-US" sz="1400" dirty="0" err="1">
                <a:solidFill>
                  <a:srgbClr val="444444"/>
                </a:solidFill>
              </a:rPr>
              <a:t>uređivač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teksta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(Notepad, </a:t>
            </a:r>
            <a:r>
              <a:rPr lang="en-US" sz="1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aplikacije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mobitelu</a:t>
            </a: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…)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</a:t>
            </a:r>
            <a:r>
              <a:rPr lang="en-US" sz="1400" dirty="0" err="1">
                <a:solidFill>
                  <a:srgbClr val="444444"/>
                </a:solidFill>
              </a:rPr>
              <a:t>uređivaču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teksta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uredimo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tekst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444444"/>
                </a:solidFill>
              </a:rPr>
              <a:t>Tekst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odaberemo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držanjem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pritisnutog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miša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preko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njega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ili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klikom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na</a:t>
            </a:r>
            <a:r>
              <a:rPr lang="en-US" sz="1400" dirty="0">
                <a:solidFill>
                  <a:srgbClr val="444444"/>
                </a:solidFill>
              </a:rPr>
              <a:t> Ctrl + A </a:t>
            </a:r>
            <a:r>
              <a:rPr lang="en-US" sz="1400" dirty="0" err="1">
                <a:solidFill>
                  <a:srgbClr val="444444"/>
                </a:solidFill>
              </a:rPr>
              <a:t>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kopiramo</a:t>
            </a:r>
            <a:endParaRPr lang="en-US" sz="14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 err="1">
                <a:solidFill>
                  <a:srgbClr val="444444"/>
                </a:solidFill>
              </a:rPr>
              <a:t>Zalijepimo</a:t>
            </a:r>
            <a:r>
              <a:rPr lang="en-US" sz="1400" dirty="0">
                <a:solidFill>
                  <a:srgbClr val="444444"/>
                </a:solidFill>
              </a:rPr>
              <a:t> ga u </a:t>
            </a:r>
            <a:r>
              <a:rPr lang="en-US" sz="1400" dirty="0" err="1">
                <a:solidFill>
                  <a:srgbClr val="444444"/>
                </a:solidFill>
              </a:rPr>
              <a:t>aplikaciju</a:t>
            </a:r>
            <a:r>
              <a:rPr lang="en-US" sz="1400" dirty="0">
                <a:solidFill>
                  <a:srgbClr val="444444"/>
                </a:solidFill>
              </a:rPr>
              <a:t>/web </a:t>
            </a:r>
            <a:r>
              <a:rPr lang="en-US" sz="1400" dirty="0" err="1">
                <a:solidFill>
                  <a:srgbClr val="444444"/>
                </a:solidFill>
              </a:rPr>
              <a:t>stranicu</a:t>
            </a:r>
            <a:r>
              <a:rPr lang="en-US" sz="1400" dirty="0">
                <a:solidFill>
                  <a:srgbClr val="444444"/>
                </a:solidFill>
              </a:rPr>
              <a:t>/program u </a:t>
            </a:r>
            <a:r>
              <a:rPr lang="en-US" sz="1400" dirty="0" err="1">
                <a:solidFill>
                  <a:srgbClr val="444444"/>
                </a:solidFill>
              </a:rPr>
              <a:t>kojemu</a:t>
            </a:r>
            <a:r>
              <a:rPr lang="en-US" sz="1400" dirty="0">
                <a:solidFill>
                  <a:srgbClr val="444444"/>
                </a:solidFill>
              </a:rPr>
              <a:t> ga </a:t>
            </a:r>
            <a:r>
              <a:rPr lang="en-US" sz="1400" dirty="0" err="1">
                <a:solidFill>
                  <a:srgbClr val="444444"/>
                </a:solidFill>
              </a:rPr>
              <a:t>želimo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poslati</a:t>
            </a:r>
            <a:endParaRPr lang="en-US" sz="14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530EB56-6A2D-AD41-5E8F-BA0BC4AF6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3095" y="85486"/>
            <a:ext cx="400865" cy="487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E84CE11-0D79-88B0-0F77-2C580DB7E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3623" y="882095"/>
            <a:ext cx="3980337" cy="110221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252F7E6-1AC3-A497-A354-8946CB489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623" y="2028395"/>
            <a:ext cx="4038582" cy="117882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0A53621-C350-7E48-5656-BCEF999E32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558" y="3207224"/>
            <a:ext cx="4036648" cy="127834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7AE4C8F-FCE0-85AC-1910-E4A5B6B52BCF}"/>
              </a:ext>
            </a:extLst>
          </p:cNvPr>
          <p:cNvSpPr txBox="1"/>
          <p:nvPr/>
        </p:nvSpPr>
        <p:spPr>
          <a:xfrm>
            <a:off x="5175965" y="4533167"/>
            <a:ext cx="1657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Ctrl + C, Ctrl + P</a:t>
            </a:r>
            <a:endParaRPr lang="hr-H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48B621D-322B-929A-4930-0165A62C44E5}"/>
              </a:ext>
            </a:extLst>
          </p:cNvPr>
          <p:cNvSpPr txBox="1"/>
          <p:nvPr/>
        </p:nvSpPr>
        <p:spPr>
          <a:xfrm>
            <a:off x="7437756" y="4533167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Desni</a:t>
            </a:r>
            <a:r>
              <a:rPr lang="en-US" b="1" dirty="0"/>
              <a:t> </a:t>
            </a:r>
            <a:r>
              <a:rPr lang="en-US" b="1" dirty="0" err="1"/>
              <a:t>klik</a:t>
            </a:r>
            <a:endParaRPr lang="hr-HR" b="1" dirty="0"/>
          </a:p>
        </p:txBody>
      </p:sp>
    </p:spTree>
    <p:extLst>
      <p:ext uri="{BB962C8B-B14F-4D97-AF65-F5344CB8AC3E}">
        <p14:creationId xmlns:p14="http://schemas.microsoft.com/office/powerpoint/2010/main" val="1979668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Zašto</a:t>
            </a:r>
            <a:r>
              <a:rPr lang="en-US" sz="2000" b="1" dirty="0">
                <a:solidFill>
                  <a:srgbClr val="FFFFFF"/>
                </a:solidFill>
              </a:rPr>
              <a:t> je AI </a:t>
            </a:r>
            <a:r>
              <a:rPr lang="en-US" sz="2000" b="1" dirty="0" err="1">
                <a:solidFill>
                  <a:srgbClr val="FFFFFF"/>
                </a:solidFill>
              </a:rPr>
              <a:t>koristan</a:t>
            </a:r>
            <a:r>
              <a:rPr lang="en-US" sz="2000" b="1" dirty="0">
                <a:solidFill>
                  <a:srgbClr val="FFFFFF"/>
                </a:solidFill>
              </a:rPr>
              <a:t> u </a:t>
            </a:r>
            <a:r>
              <a:rPr lang="en-US" sz="2000" b="1" dirty="0" err="1">
                <a:solidFill>
                  <a:srgbClr val="FFFFFF"/>
                </a:solidFill>
              </a:rPr>
              <a:t>svakodnevnom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životu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Pisanje poruka i pisama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Žalba, zamolba, čestitka — AI napiše nacrt u sekundi, vi samo prilagodite.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Razumijevanje dokumenata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Medicinski nalazi, pravni tekstovi, računi — AI objasni na razumljiv način.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Prijevod i pretraživanje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Trenutni prijevod s engleskog, talijanskog ili njemačkog. Besplatno.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Ideje i kreativnost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Recepti, planiranje putovanja, čestitke, Facebook objave — AI pomaže s idejama.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Pregled najvažnijih AI alata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384048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Alat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Za što je idealan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 se nalazi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Pisanje, prijevod, objašnjavanje, razgovor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chatgpt.com / App Store / Google Play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Gemini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Integracija s Gmailom i Google kalendarom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gemini.google.com /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Microsoft Copilot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Ugrađen u Windows, besplatno generira slike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copilot.microsoft.com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Perplexity AI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Svaki odgovor sadrži izvore za provjeru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perplexity.ai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Canva (s AI)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Plakati, čestitke, Facebook objave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canva.com /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NotebookLM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Bilješke i PDF u podcast razgovor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notebooklm.google.com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ChatGPT: Kreiranje besplatnog računa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502920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502920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Koraci za početak (web i mobitel)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1.   Otvorite chatgpt.com u pregledniku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2.   Kliknite na 'Sign up' (Registrirajte se)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3.   Registrirajte se putem Google računa (najjednostavnije)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4.   Potvrdite e-mail ako ste unijeli ručno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44444"/>
                </a:solidFill>
              </a:rPr>
              <a:t>5.   Odmah ste u razgovoru — bez ikakve instalacije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577840" y="804672"/>
            <a:ext cx="329184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577840" y="804672"/>
            <a:ext cx="329184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77840" y="804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POZOR: lažne aplikacije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1298448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 App Storeu i Google Playu postoje </a:t>
            </a:r>
            <a:r>
              <a:rPr lang="en-US" sz="1300" b="1" dirty="0">
                <a:solidFill>
                  <a:srgbClr val="FF6666"/>
                </a:solidFill>
              </a:rPr>
              <a:t>lažne aplikacije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 s imenom 'ChatGPT'.
</a:t>
            </a:r>
            <a:r>
              <a:rPr lang="en-US" sz="1300" b="1" dirty="0">
                <a:solidFill>
                  <a:srgbClr val="FFFFFF"/>
                </a:solidFill>
              </a:rPr>
              <a:t>Prava aplikacija:
</a:t>
            </a:r>
            <a:r>
              <a:rPr lang="en-US" sz="1300" dirty="0">
                <a:solidFill>
                  <a:srgbClr val="AAAAAA"/>
                </a:solidFill>
              </a:rPr>
              <a:t>→ Izdavač: </a:t>
            </a:r>
            <a:r>
              <a:rPr lang="en-US" sz="1300" b="1" dirty="0">
                <a:solidFill>
                  <a:srgbClr val="FFFFFF"/>
                </a:solidFill>
              </a:rPr>
              <a:t>OpenAI</a:t>
            </a:r>
            <a:endParaRPr lang="en-US" sz="13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AEE5C6C-B3E8-CD4E-D5BA-90BF69508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878" y="3470471"/>
            <a:ext cx="971444" cy="86835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3869AA6-2CE8-5574-1D94-2B358F228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833" y="3265324"/>
            <a:ext cx="1058699" cy="12786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Personalizacija ChatGPT-a: postavljanje jednom, vrijedi zauvijek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Osobnost i ton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7 stilova (Friendly, Direct, Nerdy…). </a:t>
            </a:r>
            <a:r>
              <a:rPr lang="en-US" sz="1200" dirty="0" err="1">
                <a:solidFill>
                  <a:srgbClr val="444444"/>
                </a:solidFill>
              </a:rPr>
              <a:t>Biramo</a:t>
            </a:r>
            <a:r>
              <a:rPr lang="en-US" sz="1200" dirty="0">
                <a:solidFill>
                  <a:srgbClr val="444444"/>
                </a:solidFill>
              </a:rPr>
              <a:t> u </a:t>
            </a:r>
            <a:r>
              <a:rPr lang="en-US" sz="1200" dirty="0" err="1">
                <a:solidFill>
                  <a:srgbClr val="444444"/>
                </a:solidFill>
              </a:rPr>
              <a:t>postavkama</a:t>
            </a:r>
            <a:r>
              <a:rPr lang="en-US" sz="1200" dirty="0">
                <a:solidFill>
                  <a:srgbClr val="444444"/>
                </a:solidFill>
              </a:rPr>
              <a:t>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Prilagođene upute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Jednom upišite tko ste i kako želite odgovore — vrijedi za sve buduće </a:t>
            </a:r>
            <a:r>
              <a:rPr lang="en-US" sz="1200" dirty="0" err="1">
                <a:solidFill>
                  <a:srgbClr val="444444"/>
                </a:solidFill>
              </a:rPr>
              <a:t>razgovore</a:t>
            </a:r>
            <a:r>
              <a:rPr lang="en-US" sz="1200" dirty="0">
                <a:solidFill>
                  <a:srgbClr val="444444"/>
                </a:solidFill>
              </a:rPr>
              <a:t>. </a:t>
            </a:r>
            <a:r>
              <a:rPr lang="en-US" sz="1200" dirty="0" err="1">
                <a:solidFill>
                  <a:srgbClr val="444444"/>
                </a:solidFill>
              </a:rPr>
              <a:t>Istraživanje</a:t>
            </a:r>
            <a:r>
              <a:rPr lang="en-US" sz="1200" dirty="0">
                <a:solidFill>
                  <a:srgbClr val="444444"/>
                </a:solidFill>
              </a:rPr>
              <a:t> </a:t>
            </a:r>
            <a:r>
              <a:rPr lang="en-US" sz="1200" dirty="0" err="1">
                <a:solidFill>
                  <a:srgbClr val="444444"/>
                </a:solidFill>
              </a:rPr>
              <a:t>postavki</a:t>
            </a:r>
            <a:r>
              <a:rPr lang="en-US" sz="1200" dirty="0">
                <a:solidFill>
                  <a:srgbClr val="444444"/>
                </a:solidFill>
              </a:rPr>
              <a:t>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Memorija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pamti vaše podatke između razgovora. Upaliti: Settings &gt; Personalization &gt; Memory.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Projekti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Odvojeni 'projekti' za recepte, zdravlje, obitelj — svaki s vlastitim uputama i </a:t>
            </a:r>
            <a:r>
              <a:rPr lang="en-US" sz="1200" dirty="0" err="1">
                <a:solidFill>
                  <a:srgbClr val="444444"/>
                </a:solidFill>
              </a:rPr>
              <a:t>memorijom</a:t>
            </a:r>
            <a:r>
              <a:rPr lang="en-US" sz="1200" dirty="0">
                <a:solidFill>
                  <a:srgbClr val="444444"/>
                </a:solidFill>
              </a:rPr>
              <a:t>. </a:t>
            </a:r>
            <a:r>
              <a:rPr lang="en-US" sz="1200" dirty="0" err="1">
                <a:solidFill>
                  <a:srgbClr val="444444"/>
                </a:solidFill>
              </a:rPr>
              <a:t>Grupirani</a:t>
            </a:r>
            <a:r>
              <a:rPr lang="en-US" sz="1200" dirty="0">
                <a:solidFill>
                  <a:srgbClr val="444444"/>
                </a:solidFill>
              </a:rPr>
              <a:t> </a:t>
            </a:r>
            <a:r>
              <a:rPr lang="en-US" sz="1200" dirty="0" err="1">
                <a:solidFill>
                  <a:srgbClr val="444444"/>
                </a:solidFill>
              </a:rPr>
              <a:t>razgovori</a:t>
            </a:r>
            <a:r>
              <a:rPr lang="en-US" sz="1200" dirty="0">
                <a:solidFill>
                  <a:srgbClr val="444444"/>
                </a:solidFill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Promptovi koji stvarno rade — primjeri za svaki dan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Pisanje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120700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"Napiši formalno pismo kojim se žalim Komunalnom redu Split na rupe u asfaltu. Pismo treba biti uljudno, oko 150 riječi."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</a:rPr>
              <a:t>Dodavanje</a:t>
            </a:r>
            <a:r>
              <a:rPr lang="en-US" sz="1300" b="1" dirty="0">
                <a:solidFill>
                  <a:srgbClr val="FFFFFF"/>
                </a:solidFill>
              </a:rPr>
              <a:t> </a:t>
            </a:r>
            <a:r>
              <a:rPr lang="en-US" sz="1300" b="1" dirty="0" err="1">
                <a:solidFill>
                  <a:srgbClr val="FFFFFF"/>
                </a:solidFill>
              </a:rPr>
              <a:t>datoteka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18888" y="120700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“</a:t>
            </a:r>
            <a:r>
              <a:rPr lang="en-US" sz="1200" i="1" dirty="0" err="1">
                <a:solidFill>
                  <a:srgbClr val="444444"/>
                </a:solidFill>
              </a:rPr>
              <a:t>Objasni</a:t>
            </a:r>
            <a:r>
              <a:rPr lang="en-US" sz="1200" i="1" dirty="0">
                <a:solidFill>
                  <a:srgbClr val="444444"/>
                </a:solidFill>
              </a:rPr>
              <a:t> mi </a:t>
            </a:r>
            <a:r>
              <a:rPr lang="en-US" sz="1200" i="1" dirty="0" err="1">
                <a:solidFill>
                  <a:srgbClr val="444444"/>
                </a:solidFill>
              </a:rPr>
              <a:t>što</a:t>
            </a:r>
            <a:r>
              <a:rPr lang="en-US" sz="1200" i="1" dirty="0">
                <a:solidFill>
                  <a:srgbClr val="444444"/>
                </a:solidFill>
              </a:rPr>
              <a:t> je </a:t>
            </a:r>
            <a:r>
              <a:rPr lang="en-US" sz="1200" i="1" dirty="0" err="1">
                <a:solidFill>
                  <a:srgbClr val="444444"/>
                </a:solidFill>
              </a:rPr>
              <a:t>na</a:t>
            </a:r>
            <a:r>
              <a:rPr lang="en-US" sz="1200" i="1" dirty="0">
                <a:solidFill>
                  <a:srgbClr val="444444"/>
                </a:solidFill>
              </a:rPr>
              <a:t> </a:t>
            </a:r>
            <a:r>
              <a:rPr lang="en-US" sz="1200" i="1" dirty="0" err="1">
                <a:solidFill>
                  <a:srgbClr val="444444"/>
                </a:solidFill>
              </a:rPr>
              <a:t>priloženoj</a:t>
            </a:r>
            <a:r>
              <a:rPr lang="en-US" sz="1200" i="1" dirty="0">
                <a:solidFill>
                  <a:srgbClr val="444444"/>
                </a:solidFill>
              </a:rPr>
              <a:t> </a:t>
            </a:r>
            <a:r>
              <a:rPr lang="en-US" sz="1200" i="1" dirty="0" err="1">
                <a:solidFill>
                  <a:srgbClr val="444444"/>
                </a:solidFill>
              </a:rPr>
              <a:t>slici</a:t>
            </a:r>
            <a:r>
              <a:rPr lang="en-US" sz="1200" i="1" dirty="0">
                <a:solidFill>
                  <a:srgbClr val="444444"/>
                </a:solidFill>
              </a:rPr>
              <a:t>”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Prijevod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" y="331012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"Prevedi ovaj tekst s talijanskog na hrvatski i objasni trebam li nešto poduzeti: [umetni tekst]"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Recepti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18888" y="3310128"/>
            <a:ext cx="391363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444444"/>
                </a:solidFill>
              </a:rPr>
              <a:t>"Napiši mi recept za pašticadu po dalmatinskoj tradiciji. Imam junetinu, crno vino i sušene šljive."</a:t>
            </a:r>
            <a:endParaRPr lang="en-US" sz="12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DAE69EF-AA0D-46EF-7BE5-15464551B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956" y="1625779"/>
            <a:ext cx="966206" cy="94597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C40623D-CCBE-C069-7B2A-340541886C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841" y="1846385"/>
            <a:ext cx="1063007" cy="4925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Generiranje slika: kad AI crta i fotografira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Koji alati generiraju slike?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ChatGPT (besplatno) — DALL-E model, ograničen broj dnevno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Microsoft Copilot (besplatno!) — DALL-E 3, bez plaćanja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Canva AI — Text to Image, idealno za čestitke i postere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Adobe Firefly — firefly.adobe.com, visoka kvaliteta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Google ImageFX — labs.google/experiments/imagefx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Formula za dobru sliku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FORMULA: [Što prikazuje] + [Stil] + [Boje] + [Raspoloženje]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❌ Loše: 'Stara žena na moru'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✓ Dobro: 'Elegantna starica u bijeloj haljini na kamenom zidu kraj mora u Dalmaciji, zalazak sunca, realistično, mirno raspoloženje'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Primjena: čestitke, pozivnice, Facebook objave, slike za </a:t>
            </a:r>
            <a:r>
              <a:rPr lang="en-US" sz="1300" dirty="0" err="1">
                <a:solidFill>
                  <a:srgbClr val="444444"/>
                </a:solidFill>
              </a:rPr>
              <a:t>ispis</a:t>
            </a:r>
            <a:r>
              <a:rPr lang="en-US" sz="1300" dirty="0">
                <a:solidFill>
                  <a:srgbClr val="444444"/>
                </a:solidFill>
              </a:rPr>
              <a:t>!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 err="1">
                <a:solidFill>
                  <a:srgbClr val="444444"/>
                </a:solidFill>
              </a:rPr>
              <a:t>Primjer</a:t>
            </a:r>
            <a:r>
              <a:rPr lang="en-US" sz="1300" dirty="0">
                <a:solidFill>
                  <a:srgbClr val="444444"/>
                </a:solidFill>
              </a:rPr>
              <a:t>: “</a:t>
            </a:r>
            <a:r>
              <a:rPr lang="en-US" sz="1300" dirty="0" err="1">
                <a:solidFill>
                  <a:srgbClr val="444444"/>
                </a:solidFill>
              </a:rPr>
              <a:t>generiraj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sliku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zelene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oaze</a:t>
            </a:r>
            <a:r>
              <a:rPr lang="en-US" sz="1300" dirty="0">
                <a:solidFill>
                  <a:srgbClr val="444444"/>
                </a:solidFill>
              </a:rPr>
              <a:t>” </a:t>
            </a:r>
            <a:r>
              <a:rPr lang="en-US" sz="1300" dirty="0" err="1">
                <a:solidFill>
                  <a:srgbClr val="444444"/>
                </a:solidFill>
              </a:rPr>
              <a:t>na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idućem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slajdu</a:t>
            </a:r>
            <a:endParaRPr lang="en-US" sz="13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 err="1">
                <a:solidFill>
                  <a:srgbClr val="444444"/>
                </a:solidFill>
              </a:rPr>
              <a:t>Desni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klik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na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sliku</a:t>
            </a:r>
            <a:r>
              <a:rPr lang="en-US" sz="1300" dirty="0">
                <a:solidFill>
                  <a:srgbClr val="444444"/>
                </a:solidFill>
              </a:rPr>
              <a:t> -&gt; </a:t>
            </a:r>
            <a:r>
              <a:rPr lang="en-US" sz="1300" dirty="0" err="1">
                <a:solidFill>
                  <a:srgbClr val="444444"/>
                </a:solidFill>
              </a:rPr>
              <a:t>preuzmi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sliku</a:t>
            </a:r>
            <a:r>
              <a:rPr lang="en-US" sz="1300" dirty="0">
                <a:solidFill>
                  <a:srgbClr val="444444"/>
                </a:solidFill>
              </a:rPr>
              <a:t> -&gt; </a:t>
            </a:r>
            <a:r>
              <a:rPr lang="en-US" sz="1300" dirty="0" err="1">
                <a:solidFill>
                  <a:srgbClr val="444444"/>
                </a:solidFill>
              </a:rPr>
              <a:t>odabir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lokacije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na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disku</a:t>
            </a:r>
            <a:r>
              <a:rPr lang="en-US" sz="1300" dirty="0">
                <a:solidFill>
                  <a:srgbClr val="444444"/>
                </a:solidFill>
              </a:rPr>
              <a:t> za </a:t>
            </a:r>
            <a:r>
              <a:rPr lang="en-US" sz="1300" dirty="0" err="1">
                <a:solidFill>
                  <a:srgbClr val="444444"/>
                </a:solidFill>
              </a:rPr>
              <a:t>preuzimanje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slike</a:t>
            </a:r>
            <a:endParaRPr lang="en-US" sz="13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 err="1">
                <a:solidFill>
                  <a:srgbClr val="444444"/>
                </a:solidFill>
              </a:rPr>
              <a:t>Podijelite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sliku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izravno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iz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razgovora</a:t>
            </a:r>
            <a:r>
              <a:rPr lang="en-US" sz="1300" dirty="0">
                <a:solidFill>
                  <a:srgbClr val="444444"/>
                </a:solidFill>
              </a:rPr>
              <a:t> -&gt;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D8DCF40-32AB-1E56-25F3-718FEA7CB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091" y="4228292"/>
            <a:ext cx="409726" cy="539640"/>
          </a:xfrm>
          <a:prstGeom prst="rect">
            <a:avLst/>
          </a:prstGeom>
        </p:spPr>
      </p:pic>
      <p:pic>
        <p:nvPicPr>
          <p:cNvPr id="4104" name="Picture 8" descr="ChatGPT - Wikipedia">
            <a:extLst>
              <a:ext uri="{FF2B5EF4-FFF2-40B4-BE49-F238E27FC236}">
                <a16:creationId xmlns:a16="http://schemas.microsoft.com/office/drawing/2014/main" id="{9A49E283-1A7E-8E47-8D5B-9CD525B2F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" y="3959283"/>
            <a:ext cx="535782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Microsoft Copilot - Wikipedia">
            <a:extLst>
              <a:ext uri="{FF2B5EF4-FFF2-40B4-BE49-F238E27FC236}">
                <a16:creationId xmlns:a16="http://schemas.microsoft.com/office/drawing/2014/main" id="{C2E462CD-4473-665A-2597-82EDFD49A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5924" y="3961592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Canva – AI-Assisted Design &amp; Image ...">
            <a:extLst>
              <a:ext uri="{FF2B5EF4-FFF2-40B4-BE49-F238E27FC236}">
                <a16:creationId xmlns:a16="http://schemas.microsoft.com/office/drawing/2014/main" id="{495CEEC5-E19F-9D3F-9142-8091B4F00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5668" y="3977390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Adobe Firefly (@AdobeFirefly) / Posts / X">
            <a:extLst>
              <a:ext uri="{FF2B5EF4-FFF2-40B4-BE49-F238E27FC236}">
                <a16:creationId xmlns:a16="http://schemas.microsoft.com/office/drawing/2014/main" id="{D0DEB726-C0C2-C66C-CFBC-6EB2218A5E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986" y="3969845"/>
            <a:ext cx="516850" cy="51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Google ImageFX: A Simple Tool for Fast AI Image Design">
            <a:extLst>
              <a:ext uri="{FF2B5EF4-FFF2-40B4-BE49-F238E27FC236}">
                <a16:creationId xmlns:a16="http://schemas.microsoft.com/office/drawing/2014/main" id="{5A3EF6AF-129E-84B0-F3FA-AF2A93A33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8964" y="4016300"/>
            <a:ext cx="917488" cy="49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C7BC579-8264-E655-B944-D15831DA3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2849" y="482599"/>
            <a:ext cx="4178300" cy="417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616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940AD-FFB0-0B7E-045B-367A1AC29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5C3AEBA-2663-E1F3-3AC8-F164FE32604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AF54C17-38C5-4672-8744-A2BD497903C2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Generiranje slika: kad AI crta i fotografira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89ECB54-EC38-D01F-D027-BD52CC8FB82F}"/>
              </a:ext>
            </a:extLst>
          </p:cNvPr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7D0FAA7-31F2-4F1C-B23D-C7539EEAC18B}"/>
              </a:ext>
            </a:extLst>
          </p:cNvPr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0E236F9-40C6-D0D3-74A6-52E82F96CC50}"/>
              </a:ext>
            </a:extLst>
          </p:cNvPr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Koji alati generiraju slike?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957EA67-6FF1-05B6-5A18-D97C65B03292}"/>
              </a:ext>
            </a:extLst>
          </p:cNvPr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ChatGPT (besplatno) — DALL-E model, ograničen broj dnevno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Microsoft Copilot (besplatno!) — DALL-E 3, bez plaćanja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Canva AI — Text to Image, idealno za čestitke i postere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Adobe Firefly — firefly.adobe.com, visoka kvaliteta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Google ImageFX — labs.google/experiments/imagefx</a:t>
            </a:r>
            <a:endParaRPr lang="en-US" sz="13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4B82E03-3771-F19B-E8CA-6CC66589804C}"/>
              </a:ext>
            </a:extLst>
          </p:cNvPr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32CF555-2AE1-85AE-FB98-9BC8FDD87C5A}"/>
              </a:ext>
            </a:extLst>
          </p:cNvPr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3DDC4E6-124F-E83A-AC48-874B60D74F8E}"/>
              </a:ext>
            </a:extLst>
          </p:cNvPr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Formula za dobru sliku</a:t>
            </a:r>
            <a:endParaRPr lang="en-US" sz="13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43B551B-B533-0C62-7898-658717137C84}"/>
              </a:ext>
            </a:extLst>
          </p:cNvPr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FORMULA: [Što prikazuje] + [Stil] + [Boje] + [Raspoloženje]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❌ Loše: 'Stara žena na moru'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✓ Dobro: 'Elegantna starica u bijeloj haljini na kamenom zidu kraj mora u Dalmaciji, zalazak sunca, realistično, mirno raspoloženje'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Primjena: čestitke, pozivnice, Facebook objave, slike za ispis!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934224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Tekst koji govori: podcasti, čitanje i diktiranje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Google NotebookLM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Pretvara vaše bilješke i PDF dokumente u podcast s dva AI glasova. Idealno za slušanje umjesto čitanja.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ElevenLabs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Unesi tekst i čuj ga kao prirodan govor. Korisno kad su oči umorne ili za slušanje dok hodate.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Glasovni unos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iPhone/Android: ikona mikrofona na tipkovnici. ChatGPT: pritisnite mikrofon i govorite.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Google Docs diktiranje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Alati &gt; Glasovni unos. Radi s mikrofonom računala — pišite bez tipkanja.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AI za kreativne projekte i društvene mreže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Projekt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Opis aktivnosti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Facebook objava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ChatGPT piše toplu objavu za obljetnice, putopise ili fotografije iz Dalmacije.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Digitalni obiteljski album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Opišite AI-ju fotografije iz prošlosti — AI piše opise. Kombinirajte u Canvi.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Osobna poezija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AI piše pjesmu o rodnom gradu, djetinjstvu ili dragoj osobi prema vašem opisu.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Obiteljski recept digitalno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Diktirajte recept glasom, AI ga formatira, Canva uredi vizualno — ispiši i uokviride.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Personalizirana razglednica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444444"/>
                          </a:solidFill>
                        </a:rPr>
                        <a:t>Kombinirajte AI tekst + AI sliku — ispišite kao pravi suvenir iz Dalmacije.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Što AI radi loše i što NIKADA ne smijete unositi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Ograničenja AI-ja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Izmišlja podatke koji zvuče uvjerljivo — uvijek provjerite medicinsku, pravnu i financijsku informaciju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zna uvijek najnovije vijesti (koristite Perplexity ili Gemini za aktualne teme)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može zamijeniti liječnika — dijagnozu i terapiju određuje liječnik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može zamijeniti odvjetnika — pravni savjeti su generalni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Može biti pristran — kritičko razmišljanje je uvijek nužno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⛔  NIKADA ne unosite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Lozinke, PIN kodove i pristupne podatke bankarstva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Broj kreditne ili debitne kartice i CVV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OIB (osobni identifikacijski broj)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Podatke putovnice ili osobne iskaznice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Fotografije osobnih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EEEEE"/>
                </a:solidFill>
              </a:rPr>
              <a:t>Povjerljive poslovne informacije</a:t>
            </a:r>
            <a:endParaRPr lang="en-US" sz="13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4E4A3F0-C490-81C4-F2DC-83C74C768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4" y="4018401"/>
            <a:ext cx="757954" cy="6408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Koji alat za koji zadatak?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384048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Zadatak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Preporučeni alat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Savjet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Pisanje pisama i e-mailova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Gemini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Dajte kontekst: kome pišete, zašto, koji ton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Prijevod teksta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DeepL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DeepL (deepl.com) specijaliziran, često bolji za prijevod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Medicinska pitanja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ChatGPT, Perplexity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Uvijek tražite izvore i konzultirati liječnika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Sažimanje dugačkih tekstova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Gemini, NotebookLM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Kopirajte tekst ili zalijepite link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Generiranje slika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 (besplatno!), Canva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Copilot je najlakši za početnike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Podcast iz teksta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NotebookLM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Google račun dovoljan, besplatno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 prvi tjedan s AI alatima — Checklista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Kreirao/la sam besplatan ChatGPT račun na chatgpt.com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Instalirao/la sam ChatGPT ili Gemini aplikaciju na mobitel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Poslao/la sam prvi prompt ChatGPT-u i dobio/la odgovor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Isprobao/la sam glasovni unos (mikrofon u aplikaciji)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Učitao/la fotografiju u ChatGPT i postavio/la pitanje o njoj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Otvorio/la Canva.com i pregledao/la predloške čestitaka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Isprobao/la generiranje slike u Copilot-u ili ChatGPT-u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</a:rPr>
              <a:t>☐  Osjetljive podatke (PIN, OIB, lozinka) NIKAD ne unosim u AI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C0000"/>
                </a:solidFill>
              </a:rPr>
              <a:t>Zaključak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6583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AI nije opasan ni zastrašujuć — to je alat poput mobitela. Uči se upotrebom.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Besplatno je dovoljno: ChatGPT, Gemini, Copilot i Canva zadovoljavaju 90% potreba.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AI griješi — provjera informacija ostaje naša odgovornost.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Osobni podaci = tabu: PIN, OIB, lozinka, broj kartice nikad ne idu u chatbot.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DDDDD"/>
                </a:solidFill>
              </a:rPr>
              <a:t>Počnite malo — jedan prompt dnevno je dovoljan start. Za tjedan dana imat ćete naviku.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4407408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8888"/>
                </a:solidFill>
              </a:rPr>
              <a:t>AI je alat. Vi ste mozak koji ga koristi.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7823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chatgpt.com  ·  gemini.google.com  ·  canva.com  ·  perplexity.ai  ·  notebooklm.google.com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1795</Words>
  <Application>Microsoft Office PowerPoint</Application>
  <PresentationFormat>On-screen Show (16:9)</PresentationFormat>
  <Paragraphs>221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ADLaM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Alati u Svakodnevnom Životu</dc:title>
  <dc:subject>PptxGenJS Presentation</dc:subject>
  <dc:creator>PptxGenJS</dc:creator>
  <cp:lastModifiedBy>Bruno Bilandžić</cp:lastModifiedBy>
  <cp:revision>8</cp:revision>
  <dcterms:created xsi:type="dcterms:W3CDTF">2026-03-19T08:36:54Z</dcterms:created>
  <dcterms:modified xsi:type="dcterms:W3CDTF">2026-04-01T09:32:15Z</dcterms:modified>
</cp:coreProperties>
</file>