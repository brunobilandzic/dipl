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4" r:id="rId4"/>
    <p:sldId id="275" r:id="rId5"/>
    <p:sldId id="276" r:id="rId6"/>
    <p:sldId id="278" r:id="rId7"/>
    <p:sldId id="279" r:id="rId8"/>
    <p:sldId id="277" r:id="rId9"/>
    <p:sldId id="258" r:id="rId10"/>
    <p:sldId id="259" r:id="rId11"/>
    <p:sldId id="260" r:id="rId12"/>
    <p:sldId id="261" r:id="rId13"/>
    <p:sldId id="262" r:id="rId14"/>
    <p:sldId id="263" r:id="rId15"/>
    <p:sldId id="27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5918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8A5E-BE9B-71B2-098F-51AE008E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E2B8E-87D3-D05F-89FD-6B1AFFEAC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1F4B87-3228-3B36-2BBA-2C4C9CEA3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8473-F0E2-C6A1-8A7B-34C294C2C2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85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731520"/>
            <a:ext cx="3200400" cy="3200400"/>
          </a:xfrm>
          <a:prstGeom prst="ellipse">
            <a:avLst/>
          </a:prstGeom>
          <a:solidFill>
            <a:srgbClr val="2E5FAC">
              <a:alpha val="60000"/>
            </a:srgbClr>
          </a:solidFill>
          <a:ln w="12700">
            <a:solidFill>
              <a:srgbClr val="2E5FA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3200400"/>
            <a:ext cx="2743200" cy="2743200"/>
          </a:xfrm>
          <a:prstGeom prst="ellipse">
            <a:avLst/>
          </a:prstGeom>
          <a:solidFill>
            <a:srgbClr val="E8690A">
              <a:alpha val="50000"/>
            </a:srgbClr>
          </a:solidFill>
          <a:ln w="12700">
            <a:solidFill>
              <a:srgbClr val="E8690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-274320"/>
            <a:ext cx="1371600" cy="1371600"/>
          </a:xfrm>
          <a:prstGeom prst="ellipse">
            <a:avLst/>
          </a:prstGeom>
          <a:solidFill>
            <a:srgbClr val="F5A623">
              <a:alpha val="70000"/>
            </a:srgbClr>
          </a:solidFill>
          <a:ln w="12700">
            <a:solidFill>
              <a:srgbClr val="F5A623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09728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114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Umjetna inteligencija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548640" y="11887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 svakodnevnom životu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5029200" cy="54864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48640" y="2176272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Praktični vodič za početnike i sve koji žele naučiti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3566160"/>
            <a:ext cx="2560320" cy="777240"/>
          </a:xfrm>
          <a:prstGeom prst="rect">
            <a:avLst/>
          </a:prstGeom>
          <a:solidFill>
            <a:srgbClr val="2E5FAC">
              <a:alpha val="6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35661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preglednik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383280" y="3566160"/>
            <a:ext cx="2560320" cy="777240"/>
          </a:xfrm>
          <a:prstGeom prst="rect">
            <a:avLst/>
          </a:prstGeom>
          <a:solidFill>
            <a:srgbClr val="2E5FAC">
              <a:alpha val="6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383280" y="35661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Mobitel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217920" y="3566160"/>
            <a:ext cx="2560320" cy="777240"/>
          </a:xfrm>
          <a:prstGeom prst="rect">
            <a:avLst/>
          </a:prstGeom>
          <a:solidFill>
            <a:srgbClr val="2E5FAC">
              <a:alpha val="6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17920" y="35661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Računalo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· Canva i ostali AI alati  |  Besplatno dostupno svima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Što je umjetna inteligencija?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1188720"/>
          </a:xfrm>
          <a:prstGeom prst="rect">
            <a:avLst/>
          </a:prstGeom>
          <a:solidFill>
            <a:srgbClr val="D6E4F7"/>
          </a:solidFill>
          <a:ln w="25400">
            <a:solidFill>
              <a:srgbClr val="2E5FAC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Zamislite bibliotekara koji je pročitao SVAKU knjigu ikad napisanu — i spreman je odgovoriti na svako vaše pitanje, odmah i strpljivo.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2606040"/>
            <a:ext cx="26060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2606040"/>
            <a:ext cx="2606040" cy="50292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26060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Razgovara s vama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" y="320040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Pišete pitanje kao SMS — AI odgovara odmah, na vašem jeziku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2606040"/>
            <a:ext cx="26060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2606040"/>
            <a:ext cx="2606040" cy="50292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26060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Pomaže sa svime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10128" y="320040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Pisanje pisama, prijevod, recepti, zdravstveni savjeti, planiranje putovanja...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35040" y="2606040"/>
            <a:ext cx="26060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50292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35040" y="26060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  Besplatno za početi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44768" y="320040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Osnovna verzija je potpuno besplatna — ne treba platiti ništa za početak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4617720"/>
            <a:ext cx="8412480" cy="438912"/>
          </a:xfrm>
          <a:prstGeom prst="rect">
            <a:avLst/>
          </a:prstGeom>
          <a:solidFill>
            <a:srgbClr val="FEF9EC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6177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u="sng" spc="3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AI može pogriješiti — uvijek provjerite važne informacije (zdravlje, pravo, financije) s odgovarajućim stručnjakom!</a:t>
            </a:r>
            <a:endParaRPr lang="en-US" sz="1600" u="sng" spc="3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C651F3-C196-FB02-4974-B4D55864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028001"/>
            <a:ext cx="8178799" cy="3087496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534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DF8BA-23B9-5554-E3B7-935C33A1C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39AE28-FAD1-022A-7645-E6A766B5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9" y="0"/>
            <a:ext cx="8979742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071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D75E32-0A50-418A-0698-BD6A03000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7371"/>
            <a:ext cx="9161137" cy="528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567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21CDA9-29FB-7A3C-E29B-EC3325B5C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67" y="0"/>
            <a:ext cx="96854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75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DE6463-1F94-B72D-D329-01ADC9143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465" y="0"/>
            <a:ext cx="444906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06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1F8A14-B8F9-0349-39AC-3897131DA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265" y="0"/>
            <a:ext cx="584947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67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je dostupan na 3 načina — odaberite što vam odgovara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188720"/>
            <a:ext cx="274320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D6E4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2743200" cy="64008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preglednik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5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chatgpt.com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38328" y="2331720"/>
            <a:ext cx="252374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Otvorite bilo koji preglednik (Chrome, Firefox, Safari, Edge) i idite na chatgpt.com.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Nikakva instalacija nije </a:t>
            </a:r>
            <a:r>
              <a:rPr lang="en-US" sz="19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potrebna</a:t>
            </a: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ako koristite računalo ili tablet.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154680" y="1188720"/>
            <a:ext cx="274320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F5E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154680" y="1188720"/>
            <a:ext cx="2743200" cy="64008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5468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Mobitel (aplikacija)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46120" y="1920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/ Google Play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264408" y="2331720"/>
            <a:ext cx="252374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Preuzmite besplatnu aplikaciju 'ChatGPT'.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Pažnja: prava aplikacija je od izdavača OpenAI, s bijelim </a:t>
            </a:r>
            <a:r>
              <a:rPr lang="en-US" sz="19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logotipom</a:t>
            </a: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Omoguće je i glasovni unos — govorite umjesto tipkanja!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80760" y="1188720"/>
            <a:ext cx="274320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D6E4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80760" y="1188720"/>
            <a:ext cx="2743200" cy="6400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Desktop aplikacija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1920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Preuzimanje na računalo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190488" y="2331720"/>
            <a:ext cx="252374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Posebna aplikacija za Windows i Mac </a:t>
            </a:r>
            <a:r>
              <a:rPr lang="en-US" sz="19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računala</a:t>
            </a: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 i kad preglednik nije </a:t>
            </a:r>
            <a:r>
              <a:rPr lang="en-US" sz="19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otvoren</a:t>
            </a: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Lako dostupna s radne površine — kao svaki drugi program.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Sva sučelja mogu se postaviti na HRVATSKI JEZIK  |  Settings ⚙️ → Language → Hrvatski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📱  Kako preuzeti AI na mobitel — korak po korak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3931920" cy="50292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1430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Android mobitel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691640"/>
            <a:ext cx="3931920" cy="457200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 Otvorite Google Play trgovinu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2176272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1762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 Upišite u tražilicu: ChatGPT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2660904"/>
            <a:ext cx="3931920" cy="457200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6609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 Odaberite aplikaciju od izdavača OpenAI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4320" y="3145536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31455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 Pritisnite gumb 'Instaliraj'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" y="3630168"/>
            <a:ext cx="3931920" cy="457200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6301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5️⃣  Pričekajte preuzimanje (1-2 minute)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4114800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4114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6️⃣  Pritisnite 'Otvori' i registrirajte 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54880" y="1143000"/>
            <a:ext cx="39319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11430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  iPhone / iPad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754880" y="1691640"/>
            <a:ext cx="393192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 Otvorite App Store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754880" y="2176272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21762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 Pritisnite ikonu tražilice (povećalo)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754880" y="2660904"/>
            <a:ext cx="393192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26609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 Upišite: ChatGPT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754880" y="3145536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31455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 Odaberite aplikaciju od OpenAI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754880" y="3630168"/>
            <a:ext cx="393192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36301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5️⃣  Pritisnite gumb 'Preuzmi' (oblak ↓)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754880" y="4114800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4114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6️⃣  Pritisnite 'Otvori' i registrirajte se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274320" y="4572000"/>
            <a:ext cx="8412480" cy="50292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1480" y="4572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PAŽNJA: Provjerite da je izdavač 'OpenAI'. U trgovinama postoje lažne aplikacije sličnog naziva!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Kako instalirati AI na računalo (desktop)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3931920" cy="50292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🪟  Windows računalo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737360"/>
            <a:ext cx="393192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 Otvorite preglednik (Chrome ili Edge)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2221992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2219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 U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tražilicu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upišite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preuzimanje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2706624"/>
            <a:ext cx="393192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7066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Kliknite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preuzmite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4320" y="3191256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319125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 Kliknite na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ikonu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Windows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MacOS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" y="3675888"/>
            <a:ext cx="393192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6758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5️⃣  U Microsoft store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kliknite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en-US" sz="16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Preuzmi</a:t>
            </a: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4160520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6️⃣ 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Spremite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otvorite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datoteku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ChatGPT installer I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pratite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korake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instalacije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  Mac računalo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754880" y="1737360"/>
            <a:ext cx="3931920" cy="457200"/>
          </a:xfrm>
          <a:prstGeom prst="rect">
            <a:avLst/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 Idite na: chatgpt.com/download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754880" y="2221992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DF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22219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 Kliknite 'Download for macOS'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754880" y="2706624"/>
            <a:ext cx="3931920" cy="457200"/>
          </a:xfrm>
          <a:prstGeom prst="rect">
            <a:avLst/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27066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 Otvorite preuzetu datoteku (.dmg)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754880" y="3191256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DF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319125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 Povucite ikonu u mapu Applications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754880" y="3675888"/>
            <a:ext cx="3931920" cy="457200"/>
          </a:xfrm>
          <a:prstGeom prst="rect">
            <a:avLst/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36758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5️⃣  Pokrenite ChatGPT iz Applications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754880" y="4160520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DF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6️⃣  Prijavite se i počnite koristiti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274320" y="4617720"/>
            <a:ext cx="8412480" cy="457200"/>
          </a:xfrm>
          <a:prstGeom prst="rect">
            <a:avLst/>
          </a:prstGeom>
          <a:solidFill>
            <a:srgbClr val="FEF9EC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1480" y="4617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Nije sigurni kako? Zamolite mlađeg člana obitelji ili prijatelja da vam jednom pokaže — i to je to!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🔑  Registracija — prvi put u 5 minuta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" y="1252728"/>
            <a:ext cx="502920" cy="502920"/>
          </a:xfrm>
          <a:prstGeom prst="ellipse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52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60120" y="1188720"/>
            <a:ext cx="7863840" cy="603504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Idite na chatgpt.com ili otvorite aplikaciju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1911096"/>
            <a:ext cx="502920" cy="502920"/>
          </a:xfrm>
          <a:prstGeom prst="ellipse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911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" y="1847088"/>
            <a:ext cx="7863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51560" y="1847088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Kliknite 'Sign up' ili 'Registracija'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74320" y="2569464"/>
            <a:ext cx="502920" cy="502920"/>
          </a:xfrm>
          <a:prstGeom prst="ellipse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2569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0120" y="2505456"/>
            <a:ext cx="7863840" cy="603504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2505456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Odaberite 'Nastavi s Googleom' — najjednostavnije!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74320" y="3227832"/>
            <a:ext cx="502920" cy="502920"/>
          </a:xfrm>
          <a:prstGeom prst="ellipse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0120" y="3163824"/>
            <a:ext cx="7863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51560" y="3163824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Odaberite svoj Google/Gmail račun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274320" y="3886200"/>
            <a:ext cx="502920" cy="502920"/>
          </a:xfrm>
          <a:prstGeom prst="ellipse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60120" y="3822192"/>
            <a:ext cx="7863840" cy="603504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51560" y="3822192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 Pritisnite 'Odobriti' — i gotovo, odmah ste unutra!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274320" y="4526280"/>
            <a:ext cx="8412480" cy="566928"/>
          </a:xfrm>
          <a:prstGeom prst="rect">
            <a:avLst/>
          </a:prstGeom>
          <a:solidFill>
            <a:srgbClr val="FEF9EC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452628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Nemate Google račun? Možete se registrirati s bilo kojom e-mail adresom — ili zamolite ukućane da vam pomognu s prvim korakom.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🇭🇷  Postavite sučelje na Hrvatski jezik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777240"/>
          </a:xfrm>
          <a:prstGeom prst="rect">
            <a:avLst/>
          </a:prstGeom>
          <a:solidFill>
            <a:srgbClr val="FEF9EC"/>
          </a:solidFill>
          <a:ln w="25400">
            <a:solidFill>
              <a:srgbClr val="F5A62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Dobra vijest: ChatGPT i većina AI alata ODGOVARAJU NA HRVATSKOM — čak i ako je sučelje na engleskom! Samo pišite na hrvatskom i dobit ćete odgovor na hrvatskom.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4023360" cy="475488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računalu (web)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65760" y="2624328"/>
            <a:ext cx="4023360" cy="393192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624328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Kliknite ikonu profila (gore desno)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30449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044952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Odaberite 'Settings' (⚙️ Postavke)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3465576"/>
            <a:ext cx="4023360" cy="393192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465576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Idite na 'General'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38862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886200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Tražite 'Language'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4306824"/>
            <a:ext cx="4023360" cy="393192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4306824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Odaberite 'Croatian - Hrvatski'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65760" y="472744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727448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Kliknite 'Save'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663440" y="2103120"/>
            <a:ext cx="4023360" cy="475488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3440" y="210312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mobitelu (app)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4663440" y="2624328"/>
            <a:ext cx="4023360" cy="393192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2624328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Otvorite aplikaciju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63440" y="30449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0" y="3044952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Tapnite ikonu profila (gore desno)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63440" y="3465576"/>
            <a:ext cx="4023360" cy="393192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465576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Tapnite 'Settings' (⚙️)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663440" y="38862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0" y="3886200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Tapnite 'Language'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663440" y="4306824"/>
            <a:ext cx="4023360" cy="393192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4306824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Odaberite 'Croatian - Hrvatski'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663440" y="472744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0" y="4727448"/>
            <a:ext cx="3840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Izađite — primijenjeno odmah!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5760" y="4754880"/>
            <a:ext cx="8412480" cy="347472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Nije jasno? Zamolite mlađeg člana obitelji ili prijatelja — ionako je to posao od jedne minute!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✍️  Kako </a:t>
            </a: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koristiti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CHATGPT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Prvenstvena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uporaba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ChatGPT-a je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generiranje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teksta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taj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čovjek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kopira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neki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uređivač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teksta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(Word, notepad, …)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</a:t>
            </a:r>
            <a:r>
              <a:rPr lang="en-US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i="1" u="sng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uređuje</a:t>
            </a:r>
            <a:endParaRPr lang="en-US" sz="1800" u="sng" dirty="0"/>
          </a:p>
        </p:txBody>
      </p:sp>
      <p:sp>
        <p:nvSpPr>
          <p:cNvPr id="21" name="Shape 19"/>
          <p:cNvSpPr/>
          <p:nvPr/>
        </p:nvSpPr>
        <p:spPr>
          <a:xfrm>
            <a:off x="365760" y="4370832"/>
            <a:ext cx="8412480" cy="676656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4517136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Možete pisati i govoriti sasvim normalno, kao da </a:t>
            </a:r>
            <a:r>
              <a:rPr lang="en-US" sz="2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pišete</a:t>
            </a: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poruku</a:t>
            </a: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nekom</a:t>
            </a: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prijatelju — AI razumije čak i nepotpune rečenice!</a:t>
            </a:r>
            <a:endParaRPr lang="en-US" sz="20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796D23B-E4D0-1FC1-4700-4B629FD03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913" y="49787"/>
            <a:ext cx="1173920" cy="109321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E228DEB-8CA6-AB8B-D7AD-BA98D85B9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6843" y="23309"/>
            <a:ext cx="1073971" cy="10739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9A51-E596-0E7A-931B-A1658E9A6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191D64E-00B2-7FD8-B7E6-B69F7133ED09}"/>
              </a:ext>
            </a:extLst>
          </p:cNvPr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9FF985A-C3BA-8C95-30DA-59162059480A}"/>
              </a:ext>
            </a:extLst>
          </p:cNvPr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✍️  Tajni sastojak: kako pitati AI da dobijete odlične odgovore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3F8C63-2D70-4DF9-B53F-966B1D356B06}"/>
              </a:ext>
            </a:extLst>
          </p:cNvPr>
          <p:cNvSpPr/>
          <p:nvPr/>
        </p:nvSpPr>
        <p:spPr>
          <a:xfrm>
            <a:off x="365760" y="11430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je pitanje konkretnije i detaljnije — to je odgovor bolji. To je jedina vještina koju trebate naučiti!</a:t>
            </a:r>
            <a:endParaRPr lang="en-US" sz="1800" u="sng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4A85625-5F8F-EADB-939B-7EDE273E76D5}"/>
              </a:ext>
            </a:extLst>
          </p:cNvPr>
          <p:cNvSpPr/>
          <p:nvPr/>
        </p:nvSpPr>
        <p:spPr>
          <a:xfrm>
            <a:off x="365760" y="1664208"/>
            <a:ext cx="374904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0E0A4A-A0FC-6FC6-56BE-D34317E97CD6}"/>
              </a:ext>
            </a:extLst>
          </p:cNvPr>
          <p:cNvSpPr/>
          <p:nvPr/>
        </p:nvSpPr>
        <p:spPr>
          <a:xfrm>
            <a:off x="365760" y="1664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Slabo pitanje (vaga odgovor)</a:t>
            </a:r>
            <a:endParaRPr lang="en-US" sz="18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39274DC-17F1-46B1-8A0E-3BD395D1DF18}"/>
              </a:ext>
            </a:extLst>
          </p:cNvPr>
          <p:cNvSpPr/>
          <p:nvPr/>
        </p:nvSpPr>
        <p:spPr>
          <a:xfrm>
            <a:off x="4206240" y="1664208"/>
            <a:ext cx="4572000" cy="41148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0F2BC02-CC35-6049-B4C5-767543770B6C}"/>
              </a:ext>
            </a:extLst>
          </p:cNvPr>
          <p:cNvSpPr/>
          <p:nvPr/>
        </p:nvSpPr>
        <p:spPr>
          <a:xfrm>
            <a:off x="4206240" y="16642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Dobro pitanje (odličan odgovor)</a:t>
            </a:r>
            <a:endParaRPr lang="en-US" sz="1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31CFD6C-092B-CCA4-1269-162407E7D908}"/>
              </a:ext>
            </a:extLst>
          </p:cNvPr>
          <p:cNvSpPr/>
          <p:nvPr/>
        </p:nvSpPr>
        <p:spPr>
          <a:xfrm>
            <a:off x="365760" y="2121408"/>
            <a:ext cx="3749040" cy="685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8C8FA1F-8C32-6336-366A-3D1AF9403B9D}"/>
              </a:ext>
            </a:extLst>
          </p:cNvPr>
          <p:cNvSpPr/>
          <p:nvPr/>
        </p:nvSpPr>
        <p:spPr>
          <a:xfrm>
            <a:off x="502920" y="2121408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Napiši mi nešto</a:t>
            </a:r>
            <a:endParaRPr lang="en-US" sz="1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CB27CE0-2A2A-66E1-1A2F-E2889C95BB02}"/>
              </a:ext>
            </a:extLst>
          </p:cNvPr>
          <p:cNvSpPr/>
          <p:nvPr/>
        </p:nvSpPr>
        <p:spPr>
          <a:xfrm>
            <a:off x="4206240" y="2121408"/>
            <a:ext cx="4572000" cy="685800"/>
          </a:xfrm>
          <a:prstGeom prst="rect">
            <a:avLst/>
          </a:prstGeom>
          <a:solidFill>
            <a:srgbClr val="E8F5EC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720CB9E-0A1B-1C7B-A0B7-898779E0B28F}"/>
              </a:ext>
            </a:extLst>
          </p:cNvPr>
          <p:cNvSpPr/>
          <p:nvPr/>
        </p:nvSpPr>
        <p:spPr>
          <a:xfrm>
            <a:off x="4343400" y="2121408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Napiši kratku čestitku za 70. rođendan moje prijateljice Marije koja voli more i cvijeće.</a:t>
            </a:r>
            <a:endParaRPr lang="en-US" sz="18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906D167-008E-4989-C099-E3E11022CBB3}"/>
              </a:ext>
            </a:extLst>
          </p:cNvPr>
          <p:cNvSpPr/>
          <p:nvPr/>
        </p:nvSpPr>
        <p:spPr>
          <a:xfrm>
            <a:off x="365760" y="2871216"/>
            <a:ext cx="3749040" cy="685800"/>
          </a:xfrm>
          <a:prstGeom prst="rect">
            <a:avLst/>
          </a:prstGeom>
          <a:solidFill>
            <a:srgbClr val="FFF5F5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58B9B79-BEFB-7856-FEC4-2B311669064A}"/>
              </a:ext>
            </a:extLst>
          </p:cNvPr>
          <p:cNvSpPr/>
          <p:nvPr/>
        </p:nvSpPr>
        <p:spPr>
          <a:xfrm>
            <a:off x="502920" y="2871216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jesti?</a:t>
            </a:r>
            <a:endParaRPr lang="en-US" sz="18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F0180BE-A1E6-94D7-A25E-B31938241CDD}"/>
              </a:ext>
            </a:extLst>
          </p:cNvPr>
          <p:cNvSpPr/>
          <p:nvPr/>
        </p:nvSpPr>
        <p:spPr>
          <a:xfrm>
            <a:off x="4206240" y="2871216"/>
            <a:ext cx="4572000" cy="685800"/>
          </a:xfrm>
          <a:prstGeom prst="rect">
            <a:avLst/>
          </a:prstGeom>
          <a:solidFill>
            <a:srgbClr val="F0FFF4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765834B-2908-D9DD-AF06-C588C40E619C}"/>
              </a:ext>
            </a:extLst>
          </p:cNvPr>
          <p:cNvSpPr/>
          <p:nvPr/>
        </p:nvSpPr>
        <p:spPr>
          <a:xfrm>
            <a:off x="4343400" y="2871216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Imam dijabetes tipa 2. Predloži mi što jesti za doručak, ručak i večeru sutra.</a:t>
            </a:r>
            <a:endParaRPr lang="en-US" sz="18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9CA9DB5-2E84-7864-1DE8-F2E946CFD21E}"/>
              </a:ext>
            </a:extLst>
          </p:cNvPr>
          <p:cNvSpPr/>
          <p:nvPr/>
        </p:nvSpPr>
        <p:spPr>
          <a:xfrm>
            <a:off x="365760" y="3621024"/>
            <a:ext cx="3749040" cy="685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E911AC1-4B4B-3057-038A-20212BD92FBA}"/>
              </a:ext>
            </a:extLst>
          </p:cNvPr>
          <p:cNvSpPr/>
          <p:nvPr/>
        </p:nvSpPr>
        <p:spPr>
          <a:xfrm>
            <a:off x="502920" y="3621024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Prevedite ovo</a:t>
            </a:r>
            <a:endParaRPr lang="en-US" sz="18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F291C53-1445-5201-CFEC-7FE0E21EA6E4}"/>
              </a:ext>
            </a:extLst>
          </p:cNvPr>
          <p:cNvSpPr/>
          <p:nvPr/>
        </p:nvSpPr>
        <p:spPr>
          <a:xfrm>
            <a:off x="4206240" y="3621024"/>
            <a:ext cx="4572000" cy="685800"/>
          </a:xfrm>
          <a:prstGeom prst="rect">
            <a:avLst/>
          </a:prstGeom>
          <a:solidFill>
            <a:srgbClr val="E8F5EC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D3FC40E-A98F-1611-6DC9-93A657E82811}"/>
              </a:ext>
            </a:extLst>
          </p:cNvPr>
          <p:cNvSpPr/>
          <p:nvPr/>
        </p:nvSpPr>
        <p:spPr>
          <a:xfrm>
            <a:off x="4343400" y="3621024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Prevedi ovaj tekst s talijanskog na hrvatski i objasni mi što trebam poduzeti.</a:t>
            </a:r>
            <a:endParaRPr lang="en-US" sz="18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D8864F6-06E9-2FC7-18F3-6920E8EDE89F}"/>
              </a:ext>
            </a:extLst>
          </p:cNvPr>
          <p:cNvSpPr/>
          <p:nvPr/>
        </p:nvSpPr>
        <p:spPr>
          <a:xfrm>
            <a:off x="365760" y="4370832"/>
            <a:ext cx="8412480" cy="676656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A2ECAB3-2857-2711-3E83-B636AA971021}"/>
              </a:ext>
            </a:extLst>
          </p:cNvPr>
          <p:cNvSpPr/>
          <p:nvPr/>
        </p:nvSpPr>
        <p:spPr>
          <a:xfrm>
            <a:off x="502920" y="4517136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Možete pisati i govoriti sasvim normalno, kao da </a:t>
            </a:r>
            <a:r>
              <a:rPr lang="en-US" sz="2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pišete</a:t>
            </a: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poruku</a:t>
            </a: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nekom</a:t>
            </a: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prijatelju — AI razumije čak i nepotpune rečenice!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0499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AI u praksi — primjeri koji odmah koristite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114800" cy="50292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1430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Zdravlje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1709928"/>
            <a:ext cx="4114800" cy="749808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709928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"Objasni mi dijagnozu stenoza aortnog zaliska na jednostavnom jeziku"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74320" y="253288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578608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"Predloži jelovnik za dijabetes tipa 2 za ovaj tjedan"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274320" y="3355848"/>
            <a:ext cx="4114800" cy="749808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401568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447288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"Mogu li uz metformin uzimati aspirin?"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54880" y="1143000"/>
            <a:ext cx="4114800" cy="50292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1430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  Pisma i poruke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754880" y="1709928"/>
            <a:ext cx="4114800" cy="749808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1755648"/>
            <a:ext cx="274320" cy="274320"/>
          </a:xfrm>
          <a:prstGeom prst="ellipse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1709928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"Napiši formalno pismo žalbe Komunalnom redu zbog rupa u asfaltu"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4754880" y="253288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2578608"/>
            <a:ext cx="274320" cy="274320"/>
          </a:xfrm>
          <a:prstGeom prst="ellipse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212080" y="2578608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"Napiši čestitku za 50. godišnjicu braka moje sestre"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4754880" y="3355848"/>
            <a:ext cx="4114800" cy="749808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46320" y="3401568"/>
            <a:ext cx="274320" cy="274320"/>
          </a:xfrm>
          <a:prstGeom prst="ellipse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212080" y="3447288"/>
            <a:ext cx="3566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"Pomozi mi napisati odgovor HZZO-u o dostavi dokumentacije"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274320" y="4412776"/>
            <a:ext cx="8412480" cy="680432"/>
          </a:xfrm>
          <a:prstGeom prst="rect">
            <a:avLst/>
          </a:prstGeom>
          <a:solidFill>
            <a:srgbClr val="FEF9EC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4513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⚕️  VAŽNO: Za zdravstvena, pravna i financijska pitanja — AI može objasniti i uputiti, no konačnu odluku donosi STRUČNJAK (liječnik, odvjetnik, savjetnik)!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Još primjera — prijevod, recepti, obitelj i putovanja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463040" cy="64008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Prijevod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1188720"/>
            <a:ext cx="7040880" cy="64008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65960" y="11887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"Prevedi ovaj talijanski dokument na hrvatski i reci treba li nešto poduzeti"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1463040" cy="64008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90195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 Recepti i kuhanje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0" y="1901952"/>
            <a:ext cx="70408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65960" y="1901952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"Napiši mi recept za pašticadu prema dalmatinskoj tradiciji. Imam junetinu i crno vino."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4320" y="2615184"/>
            <a:ext cx="1463040" cy="64008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2615184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👨‍👩‍👧‍👦  Obitelj i čestitke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828800" y="2615184"/>
            <a:ext cx="7040880" cy="64008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65960" y="2615184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"Napiši čestitku za majčin dan za mamu od 85 godina, kratku i toplu, za uokviriti"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1463040" cy="6400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3328416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  Planiranje putovanja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828800" y="3328416"/>
            <a:ext cx="70408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965960" y="3328416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"Planiram izlet na Hvar s bakom od 72 god. koja teže hoda. Što savjetuješ?"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74320" y="4041648"/>
            <a:ext cx="1463040" cy="6400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04164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Prava i zakoni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828800" y="4041648"/>
            <a:ext cx="7040880" cy="640080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965960" y="4041648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"Koja su moja prava kao umirovljenik na popuste u prijevozu i lijekovima u RH?"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74320" y="4754880"/>
            <a:ext cx="8412480" cy="347472"/>
          </a:xfrm>
          <a:prstGeom prst="rect">
            <a:avLst/>
          </a:prstGeom>
          <a:solidFill>
            <a:srgbClr val="FEF9EC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4754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 Uvijek možete zamoliti nekoga tko koristi AI da vam uživo pokaže — to je najbrži način učenja!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🎙️  Govorite umjesto tipkanja — i fotografirajte dokumente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4114800" cy="475488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Glasovni unos na mobitelu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709928"/>
            <a:ext cx="4114800" cy="448056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709928"/>
            <a:ext cx="38404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Pritisnite ikonu mikrofona 🎤 u aplikaciji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2185416"/>
            <a:ext cx="411480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185416"/>
            <a:ext cx="38404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Govorite normalno — ne treba sporo ni glasno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660904"/>
            <a:ext cx="4114800" cy="448056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660904"/>
            <a:ext cx="38404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razumije hrvatski jezik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136392"/>
            <a:ext cx="411480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3136392"/>
            <a:ext cx="38404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Odlično za osobe s artritisom ili slabijim vidom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611880"/>
            <a:ext cx="4114800" cy="448056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611880"/>
            <a:ext cx="38404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Možete i SLUŠATI odgovor glasom — 'Read aloud'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4297680" cy="475488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0" y="118872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 Fotografirajte i pošaljite AI-u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572000" y="1709928"/>
            <a:ext cx="4297680" cy="448056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09160" y="1709928"/>
            <a:ext cx="40233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Liječnički nalaz → AI objasni na razumljiv način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0" y="2185416"/>
            <a:ext cx="42976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9160" y="2185416"/>
            <a:ext cx="40233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🧾  Račun ili uplatnica → provjeri je li ispravno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2660904"/>
            <a:ext cx="4297680" cy="448056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09160" y="2660904"/>
            <a:ext cx="40233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Natpis na stranom jeziku → odmah prijevod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3136392"/>
            <a:ext cx="42976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09160" y="3136392"/>
            <a:ext cx="40233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PDF dokument → sažetak u 5 rečenica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0" y="3611880"/>
            <a:ext cx="4297680" cy="448056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40233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Ručno pisani recept → AI ga prepiše uredno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3977640"/>
            <a:ext cx="8412480" cy="594360"/>
          </a:xfrm>
          <a:prstGeom prst="rect">
            <a:avLst/>
          </a:prstGeom>
          <a:solidFill>
            <a:srgbClr val="FEF9EC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39776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Kako priložiti fotografiju: pritisnite ikonu spajalice 📎 pored polja za tekst → odaberite fotografiju iz galerije ili fotografirajte → napišite pitanje → pošaljite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274320" y="4663440"/>
            <a:ext cx="8412480" cy="384048"/>
          </a:xfrm>
          <a:prstGeom prst="rect">
            <a:avLst/>
          </a:prstGeom>
          <a:solidFill>
            <a:srgbClr val="E8F5EC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11480" y="4663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Besplatna verzija ChatGPT-a podržava fotografije i PDF dokumente bez plaćanja!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🗂️  Projekti i memorija — AI koji vas pamti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777240"/>
          </a:xfrm>
          <a:prstGeom prst="rect">
            <a:avLst/>
          </a:prstGeom>
          <a:solidFill>
            <a:srgbClr val="D6E4F7"/>
          </a:solidFill>
          <a:ln w="254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MEMORIJA: ChatGPT može zapamtiti tko ste i što volite — i koristiti to u svakom razgovoru. Dovoljno je jednom reći npr. 'Zapamti da imam dijabetes i da preferiram kratke odgovore na hrvatskom.'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2057400"/>
            <a:ext cx="4023360" cy="914400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Zdravlje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"Zapamti: uzimam statine, imam visoki tlak"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057400"/>
            <a:ext cx="4023360" cy="914400"/>
          </a:xfrm>
          <a:prstGeom prst="rect">
            <a:avLst/>
          </a:prstGeom>
          <a:solidFill>
            <a:srgbClr val="FEF9E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Prehrana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235915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"Zapamti: ne jedem svinjetinu, volim mediteransku kuhinju"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044952"/>
            <a:ext cx="4023360" cy="914400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Jezik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346704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"Uvijek odgovaraj na hrvatskom, bez žargona."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3044952"/>
            <a:ext cx="4023360" cy="914400"/>
          </a:xfrm>
          <a:prstGeom prst="rect">
            <a:avLst/>
          </a:prstGeom>
          <a:solidFill>
            <a:srgbClr val="FEF9E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309067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Obitelj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346704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"Unuci: Luka (8) i Tina (11), žive u Zagrebu."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4105656"/>
            <a:ext cx="8412480" cy="438912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10565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PROJEKTI — odvojene 'mape' za različite teme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65760" y="4590288"/>
            <a:ext cx="192024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45902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Zdravlje i lijekovi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468880" y="4590288"/>
            <a:ext cx="192024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68880" y="45902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Recepti i prehrana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590288"/>
            <a:ext cx="192024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5902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 Planiranje putovanja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675120" y="4590288"/>
            <a:ext cx="1920240" cy="457200"/>
          </a:xfrm>
          <a:prstGeom prst="rect">
            <a:avLst/>
          </a:prstGeom>
          <a:solidFill>
            <a:srgbClr val="D6E4F7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Pisma i dokumenti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507492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Pronađite 'Projects' u lijevoj bočnoj traci → kliknite '+' → imenujte npr. 'Moji recepti'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  Sigurnost — što NIKADA ne unositi u AI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75488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OVE PODATKE NIKAD NE UNOSITE: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4754880" cy="4297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45720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Lozinke i PIN kodovi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4754880" cy="429768"/>
          </a:xfrm>
          <a:prstGeom prst="rect">
            <a:avLst/>
          </a:prstGeom>
          <a:solidFill>
            <a:srgbClr val="FFF8F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45720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Broj kreditne/debitne kartice i CVV kod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560320"/>
            <a:ext cx="4754880" cy="4297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560320"/>
            <a:ext cx="45720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OIB (osobni identifikacijski broj)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4754880" cy="429768"/>
          </a:xfrm>
          <a:prstGeom prst="rect">
            <a:avLst/>
          </a:prstGeom>
          <a:solidFill>
            <a:srgbClr val="FFF8F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017520"/>
            <a:ext cx="45720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Broj putovnice ili osobne iskaznice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3474720"/>
            <a:ext cx="4754880" cy="4297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3474720"/>
            <a:ext cx="45720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Podatke o bankovnom računu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4754880" cy="429768"/>
          </a:xfrm>
          <a:prstGeom prst="rect">
            <a:avLst/>
          </a:prstGeom>
          <a:solidFill>
            <a:srgbClr val="FFF8F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931920"/>
            <a:ext cx="45720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Osobne podatke trećih osoba bez njihovog pristanka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303520" y="1188720"/>
            <a:ext cx="3520440" cy="41148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0" y="1188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Kako se zaštititi: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03520" y="1645920"/>
            <a:ext cx="3520440" cy="594360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367528" y="1709928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67528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15000" y="16459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Controls → isključite 'Improve model for everyone'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0" y="2304288"/>
            <a:ext cx="35204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367528" y="2368296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67528" y="2368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15000" y="230428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osjetljive teme koristite 'Temporary Chat' — ne pamti ništa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303520" y="2962656"/>
            <a:ext cx="3520440" cy="594360"/>
          </a:xfrm>
          <a:prstGeom prst="rect">
            <a:avLst/>
          </a:prstGeom>
          <a:solidFill>
            <a:srgbClr val="E8F5EC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67528" y="3026664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367528" y="30266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715000" y="2962656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Možete obrisati povijest razgovora u Settings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03520" y="3621024"/>
            <a:ext cx="35204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67528" y="3685032"/>
            <a:ext cx="274320" cy="2743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367528" y="3685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15000" y="3621024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medicinska, pravna i financijska pitanja uvijek konzultirajte stručnjaka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469832"/>
            <a:ext cx="8412480" cy="632520"/>
          </a:xfrm>
          <a:prstGeom prst="rect">
            <a:avLst/>
          </a:prstGeom>
          <a:solidFill>
            <a:srgbClr val="FEF9EC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453951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⚕️  AI može informirati i uputiti, ali za ozbiljna pitanja (zdravlje, pravo, novac) — obratite se stručnjaku. To je zlatno pravilo!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🎨  Canva — dizajnirajte bez iskustva dizajnera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566928"/>
          </a:xfrm>
          <a:prstGeom prst="rect">
            <a:avLst/>
          </a:prstGeom>
          <a:solidFill>
            <a:srgbClr val="D6E4F7"/>
          </a:solidFill>
          <a:ln w="254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Za Canvu postoji poseban, dublji tutorial. Ovdje dobivate kratki uvod — ako vas zanima više, samo </a:t>
            </a:r>
            <a:r>
              <a:rPr lang="en-US" sz="18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pitajte</a:t>
            </a: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predavača</a:t>
            </a: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</a:t>
            </a:r>
            <a:r>
              <a:rPr lang="en-US" sz="18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predavanju</a:t>
            </a: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možemo</a:t>
            </a: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proći</a:t>
            </a: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2606040" cy="3200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224942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Čestitke za sve prilike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00400" y="192024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2606040" cy="3200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19202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📮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73552" y="224942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Pozivnice za obiteljska slavlja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35040" y="192024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1920240"/>
            <a:ext cx="2606040" cy="3200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35040" y="19202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08192" y="224942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objave i naslovnice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2606040" cy="3200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29260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8912" y="325526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Plakati i okviri za ispis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200400" y="292608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0" y="2926080"/>
            <a:ext cx="2606040" cy="3200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0" y="29260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73552" y="325526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Kalendari s obiteljskim fotografijama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35040" y="292608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035040" y="2926080"/>
            <a:ext cx="2606040" cy="3200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35040" y="29260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108192" y="325526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Letci i obavijesti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65760" y="3886200"/>
            <a:ext cx="8412480" cy="591040"/>
          </a:xfrm>
          <a:prstGeom prst="rect">
            <a:avLst/>
          </a:prstGeom>
          <a:solidFill>
            <a:srgbClr val="E8F5EC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399592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Idite na: canva.com  |  Prijavite se s Google računom  |  Besplatno za osnovne funkcije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65760" y="4526280"/>
            <a:ext cx="8412480" cy="566928"/>
          </a:xfrm>
          <a:prstGeom prst="rect">
            <a:avLst/>
          </a:prstGeom>
          <a:solidFill>
            <a:srgbClr val="FEF9EC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450176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koraci: Otvorite canva.com → Kliknite 'Kreiraj dizajn' → Odaberite format (Čestitka, Post…) → Odaberite predložak → Promijenite tekst → Preuzmite kao JPG ili PDF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  Pet zlatnih pravila za sigurno i korisno korištenje AI-a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502920" cy="502920"/>
          </a:xfrm>
          <a:prstGeom prst="ellipse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1143000"/>
            <a:ext cx="7955280" cy="676656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1612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6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griješi — vi ste pametniji: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može izmisliti podatke koji zvuče uvjerljivo. Uvijek provjerite važne informacije na drugom izvoru ili kod stručnjaka.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1984248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1892808"/>
            <a:ext cx="7955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191109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Stručnjak je uvijek posljednja riječ: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18541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Liječnik, odvjetnik, savjetnik — AI može pomoći razumjeti situaciju, ali ne može zamijeniti stručnu osobu.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734056"/>
            <a:ext cx="502920" cy="502920"/>
          </a:xfrm>
          <a:prstGeom prst="ellipse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" y="2734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4400" y="2642616"/>
            <a:ext cx="7955280" cy="676656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26609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5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Tajni podaci ostaju tajni: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935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PIN, OIB, lozinka, kartica — to nikada ne ide u AI chatbot, ni pod kojim uvjetima.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483864"/>
            <a:ext cx="502920" cy="502920"/>
          </a:xfrm>
          <a:prstGeom prst="ellipse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432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14400" y="3392424"/>
            <a:ext cx="7955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05840" y="34107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Počnite polako — jedan prompt dnevno: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5840" y="368503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potrebe učiti sve odjednom. Jedan prompt dnevno za tjedan dana — i imat ćete naviku.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4233672"/>
            <a:ext cx="502920" cy="50292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14400" y="4142232"/>
            <a:ext cx="7955280" cy="676656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41605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Tražite pomoć od bližnjih: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434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nešto nije jasno — zamolite mlađeg člana obitelji. Oni su naučili kroz pokušaj i grešku, baš kao i vi.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2E5FAC">
              <a:alpha val="50000"/>
            </a:srgbClr>
          </a:solidFill>
          <a:ln w="12700">
            <a:solidFill>
              <a:srgbClr val="2E5FAC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E8690A">
              <a:alpha val="50000"/>
            </a:srgbClr>
          </a:solidFill>
          <a:ln w="12700">
            <a:solidFill>
              <a:srgbClr val="E8690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Sada je vaš red!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je alat — vi ste mozak koji ga koristi.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2377440" cy="77724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chatgpt.com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solidFill>
            <a:srgbClr val="E8690A"/>
          </a:solidFill>
          <a:ln w="12700">
            <a:solidFill>
              <a:srgbClr val="E869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canva.com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2377440" cy="777240"/>
          </a:xfrm>
          <a:prstGeom prst="rect">
            <a:avLst/>
          </a:prstGeom>
          <a:solidFill>
            <a:srgbClr val="2E5FAC"/>
          </a:solidFill>
          <a:ln w="12700">
            <a:solidFill>
              <a:srgbClr val="2E5FA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gemini.google.com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32045" y="2788920"/>
            <a:ext cx="8354755" cy="1645154"/>
          </a:xfrm>
          <a:prstGeom prst="rect">
            <a:avLst/>
          </a:prstGeom>
          <a:solidFill>
            <a:srgbClr val="2E5FAC">
              <a:alpha val="5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9718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D6E4F7"/>
                </a:solidFill>
              </a:rPr>
              <a:t>Svaka nova tehnologija izazivala je strah i sumnju —
Pismo, tisak, telefon, internet...</a:t>
            </a:r>
            <a:endParaRPr lang="en-US" sz="1900" dirty="0"/>
          </a:p>
          <a:p>
            <a:pPr marL="0" indent="0" algn="ctr">
              <a:buNone/>
            </a:pP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</a:rPr>
              <a:t>Svaki put, oni koji su je prihvatili živjeli su lakše. 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spc="600" dirty="0">
                <a:solidFill>
                  <a:srgbClr val="F5A623"/>
                </a:solidFill>
              </a:rPr>
              <a:t>AI nije iznimka.</a:t>
            </a:r>
            <a:endParaRPr lang="en-US" sz="1900" u="sng" spc="600" dirty="0"/>
          </a:p>
        </p:txBody>
      </p:sp>
      <p:sp>
        <p:nvSpPr>
          <p:cNvPr id="14" name="Text 12"/>
          <p:cNvSpPr/>
          <p:nvPr/>
        </p:nvSpPr>
        <p:spPr>
          <a:xfrm>
            <a:off x="332045" y="4525514"/>
            <a:ext cx="8354755" cy="567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Jedan prompt dnevno. Za tjedan dana — nova navika.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1904</Words>
  <Application>Microsoft Office PowerPoint</Application>
  <PresentationFormat>On-screen Show (16:9)</PresentationFormat>
  <Paragraphs>241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u svakodnevnom životu</dc:title>
  <dc:subject>PptxGenJS Presentation</dc:subject>
  <dc:creator>PptxGenJS</dc:creator>
  <cp:lastModifiedBy>Bruno Bilandžić</cp:lastModifiedBy>
  <cp:revision>9</cp:revision>
  <dcterms:created xsi:type="dcterms:W3CDTF">2026-03-19T12:32:19Z</dcterms:created>
  <dcterms:modified xsi:type="dcterms:W3CDTF">2026-03-19T13:38:48Z</dcterms:modified>
</cp:coreProperties>
</file>