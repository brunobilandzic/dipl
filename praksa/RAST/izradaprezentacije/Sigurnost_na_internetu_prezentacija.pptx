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0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F8D3-EBBA-86E8-B76F-7A8700F2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30F58-EA98-CDAC-C908-6CEDA88F0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24FCB-8235-1646-5460-89B2467D2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161E9-75F8-475D-8DC9-8FFBAC4BC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66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SIGURNOST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NA INTERNETU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521208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21208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Za odrasle i osobe starije životne dobi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564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</a:rPr>
              <a:t>Prepoznajte prijevaru · Zaštitite podatke · Budite sigurni online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Razvojna agencija Split – RaST | SMART CITY LAB  ·  Veljača 2026.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2651760" cy="26517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86200"/>
            <a:ext cx="658368" cy="65836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886200"/>
            <a:ext cx="658368" cy="65836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88620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Zašto je kibernetička sigurnost hitna tema?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Internet je sastavni dio svakodnevnog života — plaćamo račune, komuniciramo s liječnicima, razgovaramo s djecom.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Kriminalci koriste internet jednako kao što su nekad koristili telefon ili poštu — samo su brži i anonimni.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Ključna poruka: nitko nije presmetan da postane žrtva. Znanje je jedina zaštita.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3154680"/>
            <a:ext cx="5029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3154680"/>
            <a:ext cx="5029200" cy="34747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Hrvatska 2024. — MUP RH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56616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2.167 kibernetičkih kaznenih djela — porast 21,7% u godinu dana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Financijska šteta: s 11,1 na 17 milijuna eura u jednoj godini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Splitsko-dalmatinska županija: 287 kibernetičkih kaznenih djela, od čega 256 računalnih prijevara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804672"/>
            <a:ext cx="320040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05840"/>
            <a:ext cx="2194560" cy="2194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3383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Znanje je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jedina zaštita.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C1F87-55AF-0A09-B68D-37A44F88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AC456D-D7B4-A916-E370-07D9438B0F4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68C87F-8E08-122C-8D65-D448CA2F6541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Što</a:t>
            </a:r>
            <a:r>
              <a:rPr lang="en-US" sz="2000" b="1" dirty="0">
                <a:solidFill>
                  <a:srgbClr val="FFFFFF"/>
                </a:solidFill>
              </a:rPr>
              <a:t> je </a:t>
            </a:r>
            <a:r>
              <a:rPr lang="en-US" sz="2000" b="1" dirty="0" err="1">
                <a:solidFill>
                  <a:srgbClr val="FFFFFF"/>
                </a:solidFill>
              </a:rPr>
              <a:t>kibernetička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sigurnost</a:t>
            </a:r>
            <a:r>
              <a:rPr lang="en-US" sz="2000" b="1" dirty="0">
                <a:solidFill>
                  <a:srgbClr val="FFFFFF"/>
                </a:solidFill>
              </a:rPr>
              <a:t>?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BD2DCE-D7DF-B126-DE05-0947E171AFDA}"/>
              </a:ext>
            </a:extLst>
          </p:cNvPr>
          <p:cNvSpPr/>
          <p:nvPr/>
        </p:nvSpPr>
        <p:spPr>
          <a:xfrm>
            <a:off x="365759" y="804672"/>
            <a:ext cx="8311957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>
                <a:solidFill>
                  <a:srgbClr val="444444"/>
                </a:solidFill>
              </a:rPr>
              <a:t>Kibernetička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sigurnost</a:t>
            </a:r>
            <a:r>
              <a:rPr lang="en-US" sz="1400" dirty="0">
                <a:solidFill>
                  <a:srgbClr val="444444"/>
                </a:solidFill>
              </a:rPr>
              <a:t> (</a:t>
            </a:r>
            <a:r>
              <a:rPr lang="en-US" sz="1400" dirty="0" err="1">
                <a:solidFill>
                  <a:srgbClr val="444444"/>
                </a:solidFill>
              </a:rPr>
              <a:t>ili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sigurnost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na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internetu</a:t>
            </a:r>
            <a:r>
              <a:rPr lang="en-US" sz="1400" dirty="0">
                <a:solidFill>
                  <a:srgbClr val="444444"/>
                </a:solidFill>
              </a:rPr>
              <a:t>) </a:t>
            </a:r>
            <a:r>
              <a:rPr lang="en-US" sz="1400" dirty="0" err="1">
                <a:solidFill>
                  <a:srgbClr val="444444"/>
                </a:solidFill>
              </a:rPr>
              <a:t>skup</a:t>
            </a:r>
            <a:r>
              <a:rPr lang="en-US" sz="1400" dirty="0">
                <a:solidFill>
                  <a:srgbClr val="444444"/>
                </a:solidFill>
              </a:rPr>
              <a:t> je </a:t>
            </a:r>
            <a:r>
              <a:rPr lang="en-US" sz="1400" dirty="0" err="1">
                <a:solidFill>
                  <a:srgbClr val="444444"/>
                </a:solidFill>
              </a:rPr>
              <a:t>znanja</a:t>
            </a:r>
            <a:r>
              <a:rPr lang="en-US" sz="1400" dirty="0">
                <a:solidFill>
                  <a:srgbClr val="444444"/>
                </a:solidFill>
              </a:rPr>
              <a:t>, </a:t>
            </a:r>
            <a:r>
              <a:rPr lang="en-US" sz="1400" dirty="0" err="1">
                <a:solidFill>
                  <a:srgbClr val="444444"/>
                </a:solidFill>
              </a:rPr>
              <a:t>navika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i</a:t>
            </a:r>
            <a:r>
              <a:rPr lang="en-US" sz="1400" dirty="0">
                <a:solidFill>
                  <a:srgbClr val="444444"/>
                </a:solidFill>
              </a:rPr>
              <a:t> alata </a:t>
            </a:r>
            <a:r>
              <a:rPr lang="en-US" sz="1400" dirty="0" err="1">
                <a:solidFill>
                  <a:srgbClr val="444444"/>
                </a:solidFill>
              </a:rPr>
              <a:t>kojima</a:t>
            </a:r>
            <a:r>
              <a:rPr lang="en-US" sz="1400" dirty="0">
                <a:solidFill>
                  <a:srgbClr val="444444"/>
                </a:solidFill>
              </a:rPr>
              <a:t> se </a:t>
            </a:r>
            <a:r>
              <a:rPr lang="en-US" sz="1400" dirty="0" err="1">
                <a:solidFill>
                  <a:srgbClr val="444444"/>
                </a:solidFill>
              </a:rPr>
              <a:t>štitimo</a:t>
            </a:r>
            <a:r>
              <a:rPr lang="en-US" sz="1400" dirty="0">
                <a:solidFill>
                  <a:srgbClr val="444444"/>
                </a:solidFill>
              </a:rPr>
              <a:t> od </a:t>
            </a:r>
            <a:r>
              <a:rPr lang="en-US" sz="1400" dirty="0" err="1">
                <a:solidFill>
                  <a:srgbClr val="444444"/>
                </a:solidFill>
              </a:rPr>
              <a:t>neovlaštenog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pristupa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našim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podacima</a:t>
            </a:r>
            <a:r>
              <a:rPr lang="en-US" sz="1400" dirty="0">
                <a:solidFill>
                  <a:srgbClr val="444444"/>
                </a:solidFill>
              </a:rPr>
              <a:t>, </a:t>
            </a:r>
            <a:r>
              <a:rPr lang="en-US" sz="1400" dirty="0" err="1">
                <a:solidFill>
                  <a:srgbClr val="444444"/>
                </a:solidFill>
              </a:rPr>
              <a:t>uređajima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i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novcu</a:t>
            </a:r>
            <a:r>
              <a:rPr lang="en-US" sz="1400" dirty="0">
                <a:solidFill>
                  <a:srgbClr val="444444"/>
                </a:solidFill>
              </a:rPr>
              <a:t>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>
                <a:solidFill>
                  <a:srgbClr val="444444"/>
                </a:solidFill>
              </a:rPr>
              <a:t>Kriminalci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koriste</a:t>
            </a:r>
            <a:r>
              <a:rPr lang="en-US" sz="1400" dirty="0">
                <a:solidFill>
                  <a:srgbClr val="444444"/>
                </a:solidFill>
              </a:rPr>
              <a:t> internet </a:t>
            </a:r>
            <a:r>
              <a:rPr lang="en-US" sz="1400" dirty="0" err="1">
                <a:solidFill>
                  <a:srgbClr val="444444"/>
                </a:solidFill>
              </a:rPr>
              <a:t>jednako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kao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što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su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nekad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koristili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telefon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ili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poštu</a:t>
            </a:r>
            <a:r>
              <a:rPr lang="en-US" sz="1400" dirty="0">
                <a:solidFill>
                  <a:srgbClr val="444444"/>
                </a:solidFill>
              </a:rPr>
              <a:t> — </a:t>
            </a:r>
            <a:r>
              <a:rPr lang="en-US" sz="1400" dirty="0" err="1">
                <a:solidFill>
                  <a:srgbClr val="444444"/>
                </a:solidFill>
              </a:rPr>
              <a:t>samo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su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brži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i</a:t>
            </a:r>
            <a:r>
              <a:rPr lang="en-US" sz="1400" dirty="0">
                <a:solidFill>
                  <a:srgbClr val="444444"/>
                </a:solidFill>
              </a:rPr>
              <a:t> </a:t>
            </a:r>
            <a:r>
              <a:rPr lang="en-US" sz="1400" dirty="0" err="1">
                <a:solidFill>
                  <a:srgbClr val="444444"/>
                </a:solidFill>
              </a:rPr>
              <a:t>anonimni</a:t>
            </a:r>
            <a:r>
              <a:rPr lang="en-US" sz="1400" dirty="0">
                <a:solidFill>
                  <a:srgbClr val="444444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>
                <a:solidFill>
                  <a:srgbClr val="444444"/>
                </a:solidFill>
              </a:rPr>
              <a:t>Ključna</a:t>
            </a:r>
            <a:r>
              <a:rPr lang="en-US" sz="1400" dirty="0">
                <a:solidFill>
                  <a:srgbClr val="444444"/>
                </a:solidFill>
              </a:rPr>
              <a:t> poruka: nitko nije presmetan da postane žrtva. Znanje je jedina zaštita.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1CA109-E9DB-6D83-D343-DAFB3343369E}"/>
              </a:ext>
            </a:extLst>
          </p:cNvPr>
          <p:cNvSpPr/>
          <p:nvPr/>
        </p:nvSpPr>
        <p:spPr>
          <a:xfrm>
            <a:off x="274320" y="3154680"/>
            <a:ext cx="5029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B7CE43-D9D1-9C36-912A-D97F8246464E}"/>
              </a:ext>
            </a:extLst>
          </p:cNvPr>
          <p:cNvSpPr/>
          <p:nvPr/>
        </p:nvSpPr>
        <p:spPr>
          <a:xfrm>
            <a:off x="274320" y="3154680"/>
            <a:ext cx="5029200" cy="34747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8946B1-5FFF-08B6-865C-6AC04A0DDACB}"/>
              </a:ext>
            </a:extLst>
          </p:cNvPr>
          <p:cNvSpPr/>
          <p:nvPr/>
        </p:nvSpPr>
        <p:spPr>
          <a:xfrm>
            <a:off x="274320" y="3154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Hrvatska 2024. — MUPRH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BD2316-BA8F-F3D5-B57D-D1C722768308}"/>
              </a:ext>
            </a:extLst>
          </p:cNvPr>
          <p:cNvSpPr/>
          <p:nvPr/>
        </p:nvSpPr>
        <p:spPr>
          <a:xfrm>
            <a:off x="411480" y="356616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2.167 kibernetičkih kaznenih djela — porast 21,7% u godinu dana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Financijska šteta: s 11,1 na 17 milijuna eura u jednoj godini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Splitsko-dalmatinska županija: 287 kibernetičkih kaznenih djela, od čega 256 računalnih prijevara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C0A5342-5251-2A2C-A9D2-72223813D008}"/>
              </a:ext>
            </a:extLst>
          </p:cNvPr>
          <p:cNvSpPr/>
          <p:nvPr/>
        </p:nvSpPr>
        <p:spPr>
          <a:xfrm>
            <a:off x="5715000" y="3383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Znanje je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jedina zaštita.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7635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Pojmovnik: što ove riječi zapravo znače?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38912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Pojam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Što zapravo znači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Phishing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Lažna poruka ili stranica kojom vas tjeraju da upišete lozinku ili podatke kartice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Malware / virus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Zlonamjerni program koji se instalira na vaš uređaj bez vašeg znanja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Ransomware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Virus koji zaključa vaše datoteke i traži otkupninu za otključavanje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Krađa identiteta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Preuzimanje vaših osobnih podataka radi otvaranja kredita ili prijevara u vaše ime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Vishing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Telefonska prijevara: netko vam zove i pretvara se da je banka ili policija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Smishing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SMS prijevara: lažna tekstualna poruka s poveznicom prevaranta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Dvofaktorna autentikacija (2FA)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Dvostruka provjera identiteta — uz lozinku, i SMS kod ili aplikacija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Phishing: lažne poruke i stranice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Kako prepoznati phishing?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Hitnost i strah: 'Vaš račun će biti zatvoren za 24h!'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Nepoznati pošiljatelj: adresa ne odgovara instituciji (npr. banka@gmail.com)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Sumnjiv link: adresa slična pravoj, ali nije ista (npr. hpb-banka.com umjesto hpb.hr)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Traži osjetljive podatke: prava banka NIKADA ne traži PIN putem e-maila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Gramatičke greške: neobična formulacija ili pogreške u pravopisu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Stvarni slučaj — Split 2024.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Umirovljenica je primila SMS navodno od banke da joj račun treba hitnu provjeru. Link je izgledao </a:t>
            </a:r>
            <a:r>
              <a:rPr lang="en-US" sz="1300" b="1" dirty="0">
                <a:solidFill>
                  <a:srgbClr val="FF9999"/>
                </a:solidFill>
              </a:rPr>
              <a:t>identično kao prava stranica banke.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
Upisala je podatke i PIN.
Napadač je unutar sat vremena podignuo </a:t>
            </a:r>
            <a:r>
              <a:rPr lang="en-US" sz="1400" b="1" dirty="0">
                <a:solidFill>
                  <a:srgbClr val="FFFFFF"/>
                </a:solidFill>
              </a:rPr>
              <a:t>8.000 € ušteđevine.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9999"/>
                </a:solidFill>
              </a:rPr>
              <a:t>→ Nikad ne klikajte na linkove u porukama banke — sami upišite adresu!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Virusi, ransomware i krađa identiteta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Kako se virus instalira?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Klikom na priloženu datoteku (.exe, .zip) u e-mailu od nepoznatog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Klikom na lažni gumb 'Preuzmite ažuriranje' na sumnjivoj stranici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Preuzimanjem softvera s neslužbenih stranica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Priključivanjem zaraženog USB sticka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Ransomware: zaključa sve vaše datoteke i traži otkupninu — KBC Zagreb i Hrvatke vode 2024. bile na meti istih napada!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Krađa identiteta: znakovi i zaštita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NIKADA ne dijelite: OIB, broj kartice, podatke putovnice, fotografije dokumenata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Znakovi krađe: kredit koji niste tražili, transakcije koje niste napravili, promijenjena lozinka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Što napraviti: odmah kontaktirajte banku, prijavite policiji (policija.gov.hr)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Zaštita: koristite Windows Defender (besplatan), redovito ažurirajte sustav, napravite sigurnosnu kopiju!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Lažne vijesti i romantične / investicijske prijevare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Kako prepoznati lažnu vijest?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Naslov je šokantan i provocira emocije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Nema izvora ili autora — legitimni medij uvijek potpisuje tekst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Svi vam šalju istu poruku — viralni sadržaj traži dvostruku provjeru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Provjerite na Faktograf.hr — jedini hrvatski fact-checking portal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Ako niste sigurni — NE DIJELITE dalje!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Romantična prijevara (romance scam)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Tipični znakovi prevaranta:
</a:t>
            </a:r>
            <a:r>
              <a:rPr lang="en-US" sz="1300" dirty="0">
                <a:solidFill>
                  <a:srgbClr val="FFAAAA"/>
                </a:solidFill>
              </a:rPr>
              <a:t>→ Jako brzo proglasi ljubav ili privrženost
</a:t>
            </a:r>
            <a:r>
              <a:rPr lang="en-US" sz="1300" dirty="0">
                <a:solidFill>
                  <a:srgbClr val="CCCCCC"/>
                </a:solidFill>
              </a:rPr>
              <a:t>→ Uvijek ima razlog zašto se ne može sresti u živo
</a:t>
            </a:r>
            <a:r>
              <a:rPr lang="en-US" sz="1300" dirty="0">
                <a:solidFill>
                  <a:srgbClr val="FFAAAA"/>
                </a:solidFill>
              </a:rPr>
              <a:t>→ Traži novac za 'nužnu situaciju'
</a:t>
            </a:r>
            <a:r>
              <a:rPr lang="en-US" sz="1300" dirty="0">
                <a:solidFill>
                  <a:srgbClr val="CCCCCC"/>
                </a:solidFill>
              </a:rPr>
              <a:t>→ Profil izgleda savršeno: privlačna fotografija, uspješan posao
→ Uvijek 'vojnik u misiji' ili 'kirurg u Africi'
</a:t>
            </a:r>
            <a:r>
              <a:rPr lang="en-US" sz="1200" i="1" dirty="0">
                <a:solidFill>
                  <a:srgbClr val="FF9999"/>
                </a:solidFill>
              </a:rPr>
              <a:t>MUP upozorava: ovo je financijski najrazornija vrsta prijevare!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Opasnosti na društvenim mrežama i WhatsApp/Viber prijevare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Pravila privatnosti na Facebooku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Postavite profil na 'Samo prijatelji'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 prihvaćajte zahtjeve nepoznatih osoba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 objavljujte adresu, broj telefona ni osobne dokumente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 objavljujte da ste na odmoru dok ste na odmoru — pozivnica za provalu!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Redovito provjeravajte koje aplikacije imaju pristup profilu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WhatsApp/Viber prijevare — upozorenja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"Mama/Tata, ovo je moj novi broj, trebam hitno pomoć." → Uvijek nazovite provjeren stari broj!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Lažna nagradna igra: "Dobili ste nagradu, samo popunite formular..." → Ne postoji!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"Kaufland/Konzum poklon kartica za prvih 500 klikova" → Prijevara za krađu podataka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Poziv za glasanje: link zapravo krade vaše podatke ili instalira virus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Poruke koje traže prosljeđivanje — bez provjere nikad ne proslijedite!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Online bankarstvo: zlatna pravila sigurnosti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Koristite samo službenu aplikaciju banke — preuzmite je iz App Storea ili Google Playa, NIKAD klikom na link u poruci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Nikad ne otvarajte internetsko bankarstvo na tuđem računalu ili javnom Wi-Fiju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Provjerite adresu stranice banke — mora biti https:// i točno ispravna (npr. hpb.hr, a ne hpb-online.net)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Banka NIKADA neće tražiti vaš PIN ni lozinku — ni telefonom, ni e-mailom, ni SMS-om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Postavite SMS obavijesti o transakcijama — svaka transakcija dolazi na vaš telefon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U slučaju sumnje odmah nazovite banku — na broj s poleđine kartice, NE na broj koji vam je netko poslao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804672"/>
            <a:ext cx="292608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804672"/>
            <a:ext cx="292608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Sigurna stranica?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80760" y="1298448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FF66"/>
                </a:solidFill>
              </a:rPr>
              <a:t>✓ </a:t>
            </a:r>
            <a:r>
              <a:rPr lang="en-US" sz="1300" dirty="0">
                <a:solidFill>
                  <a:srgbClr val="CCCCCC"/>
                </a:solidFill>
              </a:rPr>
              <a:t>Lokot 🔒 u adresnoj traci
</a:t>
            </a:r>
            <a:r>
              <a:rPr lang="en-US" sz="1400" dirty="0">
                <a:solidFill>
                  <a:srgbClr val="66FF66"/>
                </a:solidFill>
              </a:rPr>
              <a:t>✓ </a:t>
            </a:r>
            <a:r>
              <a:rPr lang="en-US" sz="1300" dirty="0">
                <a:solidFill>
                  <a:srgbClr val="CCCCCC"/>
                </a:solidFill>
              </a:rPr>
              <a:t>Adresa počinje s https://
</a:t>
            </a:r>
            <a:r>
              <a:rPr lang="en-US" sz="1400" dirty="0">
                <a:solidFill>
                  <a:srgbClr val="66FF66"/>
                </a:solidFill>
              </a:rPr>
              <a:t>✓ </a:t>
            </a:r>
            <a:r>
              <a:rPr lang="en-US" sz="1300" dirty="0">
                <a:solidFill>
                  <a:srgbClr val="CCCCCC"/>
                </a:solidFill>
              </a:rPr>
              <a:t>Domena je točna:
</a:t>
            </a:r>
            <a:r>
              <a:rPr lang="en-US" sz="1300" b="1" dirty="0">
                <a:solidFill>
                  <a:srgbClr val="66FF66"/>
                </a:solidFill>
              </a:rPr>
              <a:t>hpb.hr
</a:t>
            </a:r>
            <a:r>
              <a:rPr lang="en-US" sz="1400" dirty="0">
                <a:solidFill>
                  <a:srgbClr val="FF6666"/>
                </a:solidFill>
              </a:rPr>
              <a:t>✗ </a:t>
            </a:r>
            <a:r>
              <a:rPr lang="en-US" sz="1300" dirty="0">
                <a:solidFill>
                  <a:srgbClr val="FF9999"/>
                </a:solidFill>
              </a:rPr>
              <a:t>NE: hpb-banka.com
</a:t>
            </a:r>
            <a:r>
              <a:rPr lang="en-US" sz="1400" dirty="0">
                <a:solidFill>
                  <a:srgbClr val="FF6666"/>
                </a:solidFill>
              </a:rPr>
              <a:t>✗ </a:t>
            </a:r>
            <a:r>
              <a:rPr lang="en-US" sz="1300" dirty="0">
                <a:solidFill>
                  <a:srgbClr val="FF9999"/>
                </a:solidFill>
              </a:rPr>
              <a:t>NE: hpb.hr.support.net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Praktična zaštita: lozinke, 2FA i ažuriranja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Dobra lozinka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Dugačka, nasumična, jedinstvena za svaki račun. Rečenica: 'Moja mačka voli ribu 7x!' Upravitelj lozinki: Bitwarden (besplatan).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Dvofaktorna autentikacija (2FA)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Drugi sloj zaštite uz lozinku — SMS kod na telefon. Uključite za e-mail, Facebook i bankarstvo.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Ažuriranja sustava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Redovito ažurirajte Windows, Android i iOS. Ažuriranja krpe sigurnosne rupe koje hakeri aktivno iskorištavaju.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Sigurnosna kopija (backup)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Jedina prava zaštita od ransomwarea. Google Photos za slike, vanjski disk za dokumente — jednom tjedno.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Nesigurni Wi-Fi i zaštita privatnosti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Pravila korištenja Wi-Fija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NIKAD ne provjeravajte bankovni račun na javnom Wi-Fiju (kafić, hotel, bolnica)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 upisujte lozinke dok ste na javnoj mreži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Isključite 'automatsko spajanje' na otvorene mreže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Za osjetljive radnje koristite mobilni internet (4G/5G)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Kod kuće: postavite jaku lozinku za router, promijenite zadanu lozinku!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GDPR: vaša prava u EU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Vaši osobni podaci vrijede novac — tvrtke ih kupuju za marketing, kriminalci kradu za prijevare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Imate pravo znati koje podatke tvrtka prikuplja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Imate pravo tražiti ispravak ili brisanje podataka ('pravo na zaborav')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Imate pravo prigovoriti obradi u marketinške svrhe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Pritužba: AZOP — azop.hr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Scenariji za prepoznavanje prijevare — vježba u grupi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⛔  PRIJEVARA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SMS: 'HP: paket čeka, platite 1,99 €'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HP nikad ne traži plaćanje putem SMS linka. Ivana nije ništa naručivala — nazovite unuku direktno.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⛔  PRIJEVARA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Poziv od 'Erste banke' traži PIN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53619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Banka NIKAD ne traži PIN telefonom. Prekinite razgovor i nazovite banku na broj s poleđine kartice.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⛔  PRIJEVARA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Tom iz Libanona traži novac za avionsku kartu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63931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Romance scam. Prebrzo ljubav, nema video poziva, traži novac — klasični znakovi prevaranta.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90779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⛔  PRIJEVARA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Kaufland poklanja 100 kartica od 500 €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63931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Prijevara za prikupljanje podataka. Legitimna nagradna igra ne traži adresu i telefon ovako.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Posebne teme: Deepfake, QR kodovi i AI u rukama prevaranata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Deepfake videozapisi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Lažni videozapisi koji izgledaju kao stvarne osobe. Znakovi: usta se ne sinkroniziraju, kosa zamućena.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Lažni QR kodovi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Prevaranti lijeplje lažne QR naljepnice na parkomate i bankomate. Uvijek provjerite je li naljepnica originalna.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AI pomаže prevarantima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ChatGPT piše uvjerljive phishing poruke bez grešaka. Stara pravila 'loš pravopis = prijevara' više ne vrijede uvijek.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Investicijske prijevare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Lažne zarade na kriptovalutama — lažno pozivanje na EU, HNB ili poznate osobe. Oglasi na društvenim mrežama!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Kome se javiti u slučaju prijevare?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Kontakt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Kada se javiti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Gdje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Policija (hitno)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Svaka prijevara, odmah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112 ili najbliža policijska postaja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MUP RH — online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Prijava računalne prijevare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policija.gov.hr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Nacionalni CERT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Tehnička sigurnost, napadi na uređaje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cert.hr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AZOP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Zlouporaba osobnih podataka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azop.hr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Vaša banka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Sumnjive transakcije, zamrzavanje kartice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Broj s poleđine kartice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Faktograf.hr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Provjera lažnih vijesti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faktograf.hr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Sigurniji internet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Savjeti za zaštitu, posebno za starije i djecu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sigurnijiinternet.hr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Moja digitalna sigurnost — Checklista za ponijeti kući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Tjedni pregled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Provjerio/la sam transakcije na bankovnom računu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Nisam kliknuo/la na sumnjive linkove u porukama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Nisam dijelio/la osobne podatke s nepoznatima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Nisam prosljeđivao/la poruke bez provjere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Na telefonu imam zaključani zaslon (PIN ili otisak)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Jednokratna provjera: imam li osnove?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Imam instaliran antivirusni program (Windows Defender ili drugi)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Imam sigurnosnu kopiju fotografija i dokumenata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Koristim 2FA za e-mail i bankovni račun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Lozinka na kućnom Wi-Fiju nije zadana ('admin' ili '12345678')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Profil na Facebooku postavljen je na 'Samo prijatelji'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☐  Znam broj za prijavu prevare: 112 i broj banke s kartice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0000"/>
                </a:solidFill>
              </a:rPr>
              <a:t>10 pravila digitalne higijene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583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1.  Nikad ne klikam na linkove u sumnjivim porukama.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2.  Banka me nikad ne traži PIN, lozinku ni cijeli broj kartice.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3.  Svaki račun ima svoju lozinku.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4.  Na javnom Wi-Fiju ne provjeravam bankovni račun.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5.  Ažuriranja instaliram redovito.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6.  Sigurnosnu kopiju fotografija radim barem jednom tjedno.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7.  Dvofaktornu autentikaciju koristim gdje god je moguće.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8.  Neočekivanu 'nagradu' odmah sumnjičim.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9.  Strancu na internetu ne dajem OIB, broj kartice ni adresu.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DDDDD"/>
                </a:solidFill>
              </a:rPr>
              <a:t>10. U slučaju sumnje: zatvaram, zovem banku ili policiju.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</a:rPr>
              <a:t>Znanje je najjača lozinka.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8580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Pitanja?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cert.hr  ·  policija.gov.hr  ·  azop.hr  ·  faktograf.hr  ·  sigurnijiinternet.hr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1865</Words>
  <Application>Microsoft Office PowerPoint</Application>
  <PresentationFormat>On-screen Show (16:9)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Sigurnost na Internetu</dc:title>
  <dc:subject>PptxGenJS Presentation</dc:subject>
  <dc:creator>PptxGenJS</dc:creator>
  <cp:lastModifiedBy>Bruno Bilandžić</cp:lastModifiedBy>
  <cp:revision>3</cp:revision>
  <dcterms:created xsi:type="dcterms:W3CDTF">2026-03-19T08:40:50Z</dcterms:created>
  <dcterms:modified xsi:type="dcterms:W3CDTF">2026-03-31T08:22:30Z</dcterms:modified>
</cp:coreProperties>
</file>