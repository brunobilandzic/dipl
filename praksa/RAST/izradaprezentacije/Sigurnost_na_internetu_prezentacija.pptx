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76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408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F8D3-EBBA-86E8-B76F-7A8700F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30F58-EA98-CDAC-C908-6CEDA88F0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24FCB-8235-1646-5460-89B2467D2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61E9-75F8-475D-8DC9-8FFBAC4BC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66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SIGURNOST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 INTERNETU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65760" y="3008376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it-IT" sz="1400" dirty="0">
                <a:solidFill>
                  <a:srgbClr val="FFFFFF"/>
                </a:solidFill>
              </a:rPr>
              <a:t>Prepoznajte prijevaru · Zaštitite podatke · Budite sigurni online</a:t>
            </a:r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kibernetička sigurnost hitna tema?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Hrvatska 2024. — MUP RH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Znanje je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jedina zaštita.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C1F87-55AF-0A09-B68D-37A44F88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FE57BA-4028-EA00-B056-EEB207710DBB}"/>
              </a:ext>
            </a:extLst>
          </p:cNvPr>
          <p:cNvSpPr/>
          <p:nvPr/>
        </p:nvSpPr>
        <p:spPr>
          <a:xfrm>
            <a:off x="617674" y="3155270"/>
            <a:ext cx="7908651" cy="118355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CAC456D-D7B4-A916-E370-07D9438B0F4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68C87F-8E08-122C-8D65-D448CA2F6541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Što</a:t>
            </a:r>
            <a:r>
              <a:rPr lang="en-US" sz="2000" b="1" dirty="0">
                <a:solidFill>
                  <a:srgbClr val="FFFFFF"/>
                </a:solidFill>
              </a:rPr>
              <a:t> je </a:t>
            </a:r>
            <a:r>
              <a:rPr lang="en-US" sz="2000" b="1" dirty="0" err="1">
                <a:solidFill>
                  <a:srgbClr val="FFFFFF"/>
                </a:solidFill>
              </a:rPr>
              <a:t>kibernetička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sigurnost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BD2DCE-D7DF-B126-DE05-0947E171AFDA}"/>
              </a:ext>
            </a:extLst>
          </p:cNvPr>
          <p:cNvSpPr/>
          <p:nvPr/>
        </p:nvSpPr>
        <p:spPr>
          <a:xfrm>
            <a:off x="365759" y="804672"/>
            <a:ext cx="8311957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Kibernetička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(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internetu</a:t>
            </a:r>
            <a:r>
              <a:rPr lang="en-US" dirty="0">
                <a:solidFill>
                  <a:srgbClr val="444444"/>
                </a:solidFill>
              </a:rPr>
              <a:t>) </a:t>
            </a:r>
            <a:r>
              <a:rPr lang="en-US" dirty="0" err="1">
                <a:solidFill>
                  <a:srgbClr val="444444"/>
                </a:solidFill>
              </a:rPr>
              <a:t>skup</a:t>
            </a:r>
            <a:r>
              <a:rPr lang="en-US" dirty="0">
                <a:solidFill>
                  <a:srgbClr val="444444"/>
                </a:solidFill>
              </a:rPr>
              <a:t> je </a:t>
            </a:r>
            <a:r>
              <a:rPr lang="en-US" dirty="0" err="1">
                <a:solidFill>
                  <a:srgbClr val="444444"/>
                </a:solidFill>
              </a:rPr>
              <a:t>znanja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navika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alata </a:t>
            </a:r>
            <a:r>
              <a:rPr lang="en-US" dirty="0" err="1">
                <a:solidFill>
                  <a:srgbClr val="444444"/>
                </a:solidFill>
              </a:rPr>
              <a:t>kojima</a:t>
            </a:r>
            <a:r>
              <a:rPr lang="en-US" dirty="0">
                <a:solidFill>
                  <a:srgbClr val="444444"/>
                </a:solidFill>
              </a:rPr>
              <a:t> se </a:t>
            </a:r>
            <a:r>
              <a:rPr lang="en-US" dirty="0" err="1">
                <a:solidFill>
                  <a:srgbClr val="444444"/>
                </a:solidFill>
              </a:rPr>
              <a:t>štitimo</a:t>
            </a:r>
            <a:r>
              <a:rPr lang="en-US" dirty="0">
                <a:solidFill>
                  <a:srgbClr val="444444"/>
                </a:solidFill>
              </a:rPr>
              <a:t> od </a:t>
            </a:r>
            <a:r>
              <a:rPr lang="en-US" dirty="0" err="1">
                <a:solidFill>
                  <a:srgbClr val="444444"/>
                </a:solidFill>
              </a:rPr>
              <a:t>neovlaštenog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pristupa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našim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podacima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uređajima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novcu</a:t>
            </a:r>
            <a:r>
              <a:rPr lang="en-US" dirty="0">
                <a:solidFill>
                  <a:srgbClr val="444444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Kriminalci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koriste</a:t>
            </a:r>
            <a:r>
              <a:rPr lang="en-US" dirty="0">
                <a:solidFill>
                  <a:srgbClr val="444444"/>
                </a:solidFill>
              </a:rPr>
              <a:t> internet </a:t>
            </a:r>
            <a:r>
              <a:rPr lang="en-US" dirty="0" err="1">
                <a:solidFill>
                  <a:srgbClr val="444444"/>
                </a:solidFill>
              </a:rPr>
              <a:t>jednako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kao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što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nekad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telefon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poštu</a:t>
            </a:r>
            <a:r>
              <a:rPr lang="en-US" dirty="0">
                <a:solidFill>
                  <a:srgbClr val="444444"/>
                </a:solidFill>
              </a:rPr>
              <a:t> — </a:t>
            </a:r>
            <a:r>
              <a:rPr lang="en-US" dirty="0" err="1">
                <a:solidFill>
                  <a:srgbClr val="444444"/>
                </a:solidFill>
              </a:rPr>
              <a:t>samo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brži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anonimni</a:t>
            </a:r>
            <a:r>
              <a:rPr lang="en-US" dirty="0">
                <a:solidFill>
                  <a:srgbClr val="444444"/>
                </a:solidFill>
              </a:rPr>
              <a:t>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Ključna</a:t>
            </a:r>
            <a:r>
              <a:rPr lang="en-US" dirty="0">
                <a:solidFill>
                  <a:srgbClr val="444444"/>
                </a:solidFill>
              </a:rPr>
              <a:t> poruka: nitko </a:t>
            </a:r>
            <a:r>
              <a:rPr lang="en-US" dirty="0" err="1">
                <a:solidFill>
                  <a:srgbClr val="444444"/>
                </a:solidFill>
              </a:rPr>
              <a:t>nije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prepametan</a:t>
            </a:r>
            <a:r>
              <a:rPr lang="en-US" dirty="0">
                <a:solidFill>
                  <a:srgbClr val="444444"/>
                </a:solidFill>
              </a:rPr>
              <a:t> da postane žrtva. Znanje je jedina zaštita.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EBD2316-BA8F-F3D5-B57D-D1C722768308}"/>
              </a:ext>
            </a:extLst>
          </p:cNvPr>
          <p:cNvSpPr/>
          <p:nvPr/>
        </p:nvSpPr>
        <p:spPr>
          <a:xfrm>
            <a:off x="716986" y="3260517"/>
            <a:ext cx="8311957" cy="12933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podataka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osobnih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informacija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lozinki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financijskih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podataka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uređaja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računala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mobitela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tableta</a:t>
            </a:r>
            <a:r>
              <a:rPr lang="en-US" sz="1600" dirty="0">
                <a:solidFill>
                  <a:schemeClr val="bg1"/>
                </a:solidFill>
              </a:rPr>
              <a:t> od </a:t>
            </a:r>
            <a:r>
              <a:rPr lang="en-US" sz="1600" dirty="0" err="1">
                <a:solidFill>
                  <a:schemeClr val="bg1"/>
                </a:solidFill>
              </a:rPr>
              <a:t>zlonamjernih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programa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identiteta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sprječavanje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netko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preuzme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naš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digitalni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identitet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zloupotrijebi</a:t>
            </a:r>
            <a:r>
              <a:rPr lang="en-US" sz="1600" dirty="0">
                <a:solidFill>
                  <a:schemeClr val="bg1"/>
                </a:solidFill>
              </a:rPr>
              <a:t> ga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9474-BCBF-A575-EC57-6048F54F2025}"/>
              </a:ext>
            </a:extLst>
          </p:cNvPr>
          <p:cNvSpPr txBox="1"/>
          <p:nvPr/>
        </p:nvSpPr>
        <p:spPr>
          <a:xfrm>
            <a:off x="320040" y="2585315"/>
            <a:ext cx="2217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444444"/>
                </a:solidFill>
              </a:rPr>
              <a:t>TEMELJNI</a:t>
            </a:r>
            <a:r>
              <a:rPr lang="en-US" sz="2000" b="1" u="sng" dirty="0"/>
              <a:t> </a:t>
            </a:r>
            <a:r>
              <a:rPr lang="en-US" sz="2000" b="1" u="sng" dirty="0">
                <a:solidFill>
                  <a:srgbClr val="444444"/>
                </a:solidFill>
              </a:rPr>
              <a:t>STUPOVI</a:t>
            </a:r>
          </a:p>
        </p:txBody>
      </p:sp>
    </p:spTree>
    <p:extLst>
      <p:ext uri="{BB962C8B-B14F-4D97-AF65-F5344CB8AC3E}">
        <p14:creationId xmlns:p14="http://schemas.microsoft.com/office/powerpoint/2010/main" val="417635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Pojmovnik: što ove riječi zapravo znače?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1530273"/>
              </p:ext>
            </p:extLst>
          </p:nvPr>
        </p:nvGraphicFramePr>
        <p:xfrm>
          <a:off x="22860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6" name="Graphic 5" descr="Speaker phone with solid fill">
            <a:extLst>
              <a:ext uri="{FF2B5EF4-FFF2-40B4-BE49-F238E27FC236}">
                <a16:creationId xmlns:a16="http://schemas.microsoft.com/office/drawing/2014/main" id="{621FE143-32DB-7D9E-C949-7B6F8594A81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99579" y="3630021"/>
            <a:ext cx="542145" cy="542145"/>
          </a:xfrm>
          <a:prstGeom prst="rect">
            <a:avLst/>
          </a:prstGeom>
        </p:spPr>
      </p:pic>
      <p:pic>
        <p:nvPicPr>
          <p:cNvPr id="8" name="Graphic 7" descr="Employee badge with solid fill">
            <a:extLst>
              <a:ext uri="{FF2B5EF4-FFF2-40B4-BE49-F238E27FC236}">
                <a16:creationId xmlns:a16="http://schemas.microsoft.com/office/drawing/2014/main" id="{3AC38BE4-0CF2-F281-CD0B-4DB6FC8241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3954161" y="3033728"/>
            <a:ext cx="542145" cy="542145"/>
          </a:xfrm>
          <a:prstGeom prst="rect">
            <a:avLst/>
          </a:prstGeom>
        </p:spPr>
      </p:pic>
      <p:pic>
        <p:nvPicPr>
          <p:cNvPr id="10" name="Graphic 9" descr="Lock with solid fill">
            <a:extLst>
              <a:ext uri="{FF2B5EF4-FFF2-40B4-BE49-F238E27FC236}">
                <a16:creationId xmlns:a16="http://schemas.microsoft.com/office/drawing/2014/main" id="{A020C237-4922-E0CD-22F8-AF3939D387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99578" y="2528270"/>
            <a:ext cx="451310" cy="451310"/>
          </a:xfrm>
          <a:prstGeom prst="rect">
            <a:avLst/>
          </a:prstGeom>
        </p:spPr>
      </p:pic>
      <p:pic>
        <p:nvPicPr>
          <p:cNvPr id="12" name="Graphic 11" descr="Internet with solid fill">
            <a:extLst>
              <a:ext uri="{FF2B5EF4-FFF2-40B4-BE49-F238E27FC236}">
                <a16:creationId xmlns:a16="http://schemas.microsoft.com/office/drawing/2014/main" id="{64572AD6-EADE-DF6B-3AF9-417D6E788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99578" y="1967143"/>
            <a:ext cx="451310" cy="451310"/>
          </a:xfrm>
          <a:prstGeom prst="rect">
            <a:avLst/>
          </a:prstGeom>
        </p:spPr>
      </p:pic>
      <p:pic>
        <p:nvPicPr>
          <p:cNvPr id="14" name="Graphic 13" descr="Fishing with solid fill">
            <a:extLst>
              <a:ext uri="{FF2B5EF4-FFF2-40B4-BE49-F238E27FC236}">
                <a16:creationId xmlns:a16="http://schemas.microsoft.com/office/drawing/2014/main" id="{75AC0BEF-0C2A-855E-519F-ABF6AF0B8D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05637" y="1304573"/>
            <a:ext cx="574383" cy="574383"/>
          </a:xfrm>
          <a:prstGeom prst="rect">
            <a:avLst/>
          </a:prstGeom>
        </p:spPr>
      </p:pic>
      <p:pic>
        <p:nvPicPr>
          <p:cNvPr id="16" name="Graphic 15" descr="Chat bubble with solid fill">
            <a:extLst>
              <a:ext uri="{FF2B5EF4-FFF2-40B4-BE49-F238E27FC236}">
                <a16:creationId xmlns:a16="http://schemas.microsoft.com/office/drawing/2014/main" id="{BD664F30-39E8-CF7A-A471-9938CE3FB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99579" y="4156828"/>
            <a:ext cx="493895" cy="49389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7BA9CF3-5F95-8FF0-9183-97DC38E2AF6F}"/>
              </a:ext>
            </a:extLst>
          </p:cNvPr>
          <p:cNvSpPr txBox="1"/>
          <p:nvPr/>
        </p:nvSpPr>
        <p:spPr>
          <a:xfrm>
            <a:off x="3798313" y="4724166"/>
            <a:ext cx="94467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998-226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lažne poruke i stranice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phishing?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Stvarni slučaj — Split 2024.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r>
              <a:rPr lang="en-US" sz="1300" b="1" dirty="0">
                <a:solidFill>
                  <a:srgbClr val="FF9999"/>
                </a:solidFill>
              </a:rPr>
              <a:t>identično kao prava stranica banke.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
Upisala je podatke i PIN.
Napadač je unutar sat vremena podignuo </a:t>
            </a:r>
            <a:r>
              <a:rPr lang="en-US" sz="1400" b="1" dirty="0">
                <a:solidFill>
                  <a:srgbClr val="FFFFFF"/>
                </a:solidFill>
              </a:rPr>
              <a:t>8.000 € ušteđevine.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Hitnost i strah: 'Vaš račun će biti zatvoren za 24h!'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242863-2843-1B73-B28D-FB235ECB8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832" y="3853613"/>
            <a:ext cx="2259494" cy="101099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132AAE4-3789-F84C-79AF-480CB25DFA59}"/>
              </a:ext>
            </a:extLst>
          </p:cNvPr>
          <p:cNvSpPr/>
          <p:nvPr/>
        </p:nvSpPr>
        <p:spPr>
          <a:xfrm>
            <a:off x="1810983" y="3853613"/>
            <a:ext cx="4106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Virusi, ransomware i krađa identiteta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se virus instalira?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Preuzimanjem softvera s neslužbenih stranica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Priključivanjem zaraženog USB sticka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Krađa identiteta: znakovi i zaštita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en-US" sz="13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160693-3E68-C898-49D3-8402AA273E25}"/>
              </a:ext>
            </a:extLst>
          </p:cNvPr>
          <p:cNvSpPr txBox="1"/>
          <p:nvPr/>
        </p:nvSpPr>
        <p:spPr>
          <a:xfrm>
            <a:off x="2522777" y="4087548"/>
            <a:ext cx="1322547" cy="408623"/>
          </a:xfrm>
          <a:prstGeom prst="roundRect">
            <a:avLst/>
          </a:prstGeom>
          <a:solidFill>
            <a:srgbClr val="C00000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PREUZMITE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Lažne vijesti i romantične / investicijske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lažnu vijest?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Naslov je šokantan i provocira emocije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Nema izvora ili autora — legitimni medij uvijek </a:t>
            </a:r>
            <a:r>
              <a:rPr lang="en-US" sz="1300" dirty="0" err="1">
                <a:solidFill>
                  <a:srgbClr val="444444"/>
                </a:solidFill>
              </a:rPr>
              <a:t>potpisuje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tekst</a:t>
            </a:r>
            <a:endParaRPr lang="en-US" sz="1300" dirty="0">
              <a:solidFill>
                <a:srgbClr val="444444"/>
              </a:solidFill>
            </a:endParaRPr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 err="1">
                <a:solidFill>
                  <a:srgbClr val="444444"/>
                </a:solidFill>
              </a:rPr>
              <a:t>Lažni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logotipovi</a:t>
            </a:r>
            <a:r>
              <a:rPr lang="en-US" sz="1300" dirty="0">
                <a:solidFill>
                  <a:srgbClr val="444444"/>
                </a:solidFill>
              </a:rPr>
              <a:t> – </a:t>
            </a:r>
            <a:r>
              <a:rPr lang="en-US" sz="1300" dirty="0" err="1">
                <a:solidFill>
                  <a:srgbClr val="444444"/>
                </a:solidFill>
              </a:rPr>
              <a:t>uvijek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provjeriti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adresu</a:t>
            </a:r>
            <a:r>
              <a:rPr lang="en-US" sz="1300" dirty="0">
                <a:solidFill>
                  <a:srgbClr val="444444"/>
                </a:solidFill>
              </a:rPr>
              <a:t> u </a:t>
            </a:r>
            <a:r>
              <a:rPr lang="en-US" sz="1300" dirty="0" err="1">
                <a:solidFill>
                  <a:srgbClr val="444444"/>
                </a:solidFill>
              </a:rPr>
              <a:t>pregledniku</a:t>
            </a:r>
            <a:r>
              <a:rPr lang="en-US" sz="1300" dirty="0">
                <a:solidFill>
                  <a:srgbClr val="444444"/>
                </a:solidFill>
              </a:rPr>
              <a:t> (da </a:t>
            </a:r>
            <a:r>
              <a:rPr lang="en-US" sz="1300" dirty="0" err="1">
                <a:solidFill>
                  <a:srgbClr val="444444"/>
                </a:solidFill>
              </a:rPr>
              <a:t>nije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  <a:r>
              <a:rPr lang="en-US" sz="1300" dirty="0" err="1">
                <a:solidFill>
                  <a:srgbClr val="444444"/>
                </a:solidFill>
              </a:rPr>
              <a:t>npr</a:t>
            </a:r>
            <a:r>
              <a:rPr lang="en-US" sz="1300" dirty="0">
                <a:solidFill>
                  <a:srgbClr val="444444"/>
                </a:solidFill>
              </a:rPr>
              <a:t>. n12.hr)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Ako niste </a:t>
            </a:r>
            <a:r>
              <a:rPr lang="en-US" sz="1300" dirty="0" err="1">
                <a:solidFill>
                  <a:srgbClr val="444444"/>
                </a:solidFill>
              </a:rPr>
              <a:t>sigurni</a:t>
            </a:r>
            <a:r>
              <a:rPr lang="en-US" sz="1300" dirty="0">
                <a:solidFill>
                  <a:srgbClr val="444444"/>
                </a:solidFill>
              </a:rPr>
              <a:t> </a:t>
            </a:r>
          </a:p>
          <a:p>
            <a:pPr>
              <a:spcAft>
                <a:spcPts val="700"/>
              </a:spcAft>
              <a:buSzPct val="100000"/>
            </a:pPr>
            <a:r>
              <a:rPr lang="en-US" sz="1300" dirty="0">
                <a:solidFill>
                  <a:srgbClr val="444444"/>
                </a:solidFill>
              </a:rPr>
              <a:t> NE DIJELITE dalje!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Romantična prijevara (romance scam)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Tipični znakovi prevaranta:
</a:t>
            </a:r>
            <a:r>
              <a:rPr lang="en-US" sz="1300" dirty="0">
                <a:solidFill>
                  <a:srgbClr val="FFAAAA"/>
                </a:solidFill>
              </a:rPr>
              <a:t>→ Jako brzo proglasi ljubav ili privrženost
</a:t>
            </a:r>
            <a:r>
              <a:rPr lang="en-US" sz="1300" dirty="0">
                <a:solidFill>
                  <a:srgbClr val="CCCCCC"/>
                </a:solidFill>
              </a:rPr>
              <a:t>→ Uvijek ima razlog zašto se ne može sresti u živo
</a:t>
            </a:r>
            <a:r>
              <a:rPr lang="en-US" sz="1300" dirty="0">
                <a:solidFill>
                  <a:srgbClr val="FFAAAA"/>
                </a:solidFill>
              </a:rPr>
              <a:t>→ Traži novac za 'nužnu situaciju'
</a:t>
            </a:r>
            <a:r>
              <a:rPr lang="en-US" sz="1300" dirty="0">
                <a:solidFill>
                  <a:srgbClr val="CCCCCC"/>
                </a:solidFill>
              </a:rPr>
              <a:t>→ Profil izgleda savršeno: privlačna fotografija, uspješan posao
→ Uvijek 'vojnik u misiji' ili 'kirurg u Africi'
</a:t>
            </a:r>
            <a:r>
              <a:rPr lang="en-US" sz="1200" i="1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en-US" sz="1300" dirty="0"/>
          </a:p>
        </p:txBody>
      </p:sp>
      <p:pic>
        <p:nvPicPr>
          <p:cNvPr id="1028" name="Picture 4" descr="Upozorenje građanima! Na društvenim mrežama su se pojavili plaćeni oglasi  koji pozivaju građane na lažne investicije! - CERT.hr">
            <a:extLst>
              <a:ext uri="{FF2B5EF4-FFF2-40B4-BE49-F238E27FC236}">
                <a16:creationId xmlns:a16="http://schemas.microsoft.com/office/drawing/2014/main" id="{1E4082D7-8D57-C635-DA4C-9241F0E37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3539" y="3305120"/>
            <a:ext cx="2629941" cy="1522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Opasnosti na društvenim mrežama i WhatsApp/Viber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privatnosti na Facebooku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Postavite profil na 'Samo prijatelji'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prihvaćajte zahtjeve nepoznatih osoba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adresu, broj telefona ni osobne dokumente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Redovito provjeravajte koje aplikacije imaju pristup profilu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WhatsApp/Viber prijevare — upozorenja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en-US" sz="1300" dirty="0"/>
          </a:p>
        </p:txBody>
      </p:sp>
      <p:pic>
        <p:nvPicPr>
          <p:cNvPr id="2050" name="Picture 2" descr="Navigating the Social Media Landscape | Adllins Media">
            <a:extLst>
              <a:ext uri="{FF2B5EF4-FFF2-40B4-BE49-F238E27FC236}">
                <a16:creationId xmlns:a16="http://schemas.microsoft.com/office/drawing/2014/main" id="{9A9CD57D-7940-8F00-3869-A551E072F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895" y="3451945"/>
            <a:ext cx="2670435" cy="1513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E2F7F61-CB83-6F93-ECEC-1F04113708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9491" y="3350522"/>
            <a:ext cx="1415227" cy="16146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22AEA94-E84F-DA9E-CB01-FC8AD0C358B1}"/>
              </a:ext>
            </a:extLst>
          </p:cNvPr>
          <p:cNvSpPr txBox="1"/>
          <p:nvPr/>
        </p:nvSpPr>
        <p:spPr>
          <a:xfrm>
            <a:off x="4979241" y="4154162"/>
            <a:ext cx="3837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&lt;- spam </a:t>
            </a:r>
            <a:r>
              <a:rPr lang="en-US" dirty="0" err="1"/>
              <a:t>poruke</a:t>
            </a:r>
            <a:r>
              <a:rPr lang="en-US" dirty="0"/>
              <a:t> </a:t>
            </a:r>
            <a:r>
              <a:rPr lang="en-US" dirty="0" err="1"/>
              <a:t>prijevare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facebooku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Online bankarstvo: zlatna pravila sigurnosti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Sigurna stranica?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Lokot 🔒 u adresnoj traci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Adresa počinje s https://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Domena je točna:
</a:t>
            </a:r>
            <a:r>
              <a:rPr lang="en-US" sz="1300" b="1" dirty="0">
                <a:solidFill>
                  <a:srgbClr val="66FF66"/>
                </a:solidFill>
              </a:rPr>
              <a:t>hpb.hr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hpb-banka.com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hpb.hr.support.net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06BF0CA-184E-648D-E3FD-594980805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4255DF2-EF8B-D9CC-AAE1-CEB6D83CB1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314" y="3838308"/>
            <a:ext cx="5003084" cy="44126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67787A6-13EB-6ACD-DCC4-56AEA9CAEB36}"/>
              </a:ext>
            </a:extLst>
          </p:cNvPr>
          <p:cNvSpPr txBox="1"/>
          <p:nvPr/>
        </p:nvSpPr>
        <p:spPr>
          <a:xfrm>
            <a:off x="3778713" y="4650722"/>
            <a:ext cx="27017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 err="1">
                <a:solidFill>
                  <a:schemeClr val="bg2">
                    <a:lumMod val="25000"/>
                  </a:schemeClr>
                </a:solidFill>
              </a:rPr>
              <a:t>Preporučeno</a:t>
            </a:r>
            <a:r>
              <a:rPr lang="en-US" sz="1400" i="1" dirty="0">
                <a:solidFill>
                  <a:schemeClr val="bg2">
                    <a:lumMod val="25000"/>
                  </a:schemeClr>
                </a:solidFill>
              </a:rPr>
              <a:t> je </a:t>
            </a:r>
            <a:r>
              <a:rPr lang="en-US" sz="1400" i="1" dirty="0" err="1">
                <a:solidFill>
                  <a:schemeClr val="bg2">
                    <a:lumMod val="25000"/>
                  </a:schemeClr>
                </a:solidFill>
              </a:rPr>
              <a:t>plaćanje</a:t>
            </a:r>
            <a:r>
              <a:rPr lang="en-US" sz="1400" i="1" dirty="0">
                <a:solidFill>
                  <a:schemeClr val="bg2">
                    <a:lumMod val="25000"/>
                  </a:schemeClr>
                </a:solidFill>
              </a:rPr>
              <a:t> </a:t>
            </a:r>
            <a:r>
              <a:rPr lang="en-US" sz="1400" i="1" dirty="0" err="1">
                <a:solidFill>
                  <a:schemeClr val="bg2">
                    <a:lumMod val="25000"/>
                  </a:schemeClr>
                </a:solidFill>
              </a:rPr>
              <a:t>pouzećem</a:t>
            </a:r>
            <a:endParaRPr lang="en-US" sz="1400" i="1" dirty="0">
              <a:solidFill>
                <a:schemeClr val="bg2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417503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Praktična zaštita: lozinke, 2FA i ažuriranja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Dobra lozinka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Dugačka, nasumična, jedinstvena za svaki račun. Rečenica: 'Moja mačka voli ribu 7x!' Upravitelj lozinki: Bitwarden (besplatan).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Dvofaktorna autentikacija (2FA)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Drugi sloj zaštite uz lozinku — SMS kod na telefon. Uključite za e-mail, Facebook i bankarstvo.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Ažuriranja sustava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Redovito ažurirajte Windows, Android i iOS. Ažuriranja krpe sigurnosne rupe koje hakeri aktivno iskorištavaju.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Sigurnosna kopija (backup)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Jedina prava zaštita od ransomwarea. Google Photos za slike, vanjski disk za dokumente — jednom tjedno.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Nesigurni Wi-Fi i zaštita privatnosti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korištenja Wi-Fija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upisujte lozinke dok ste na javnoj mreži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Isključite 'automatsko spajanje' na otvorene mreže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 osjetljive radnje koristite mobilni internet (4G/5G)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GDPR: vaša prava u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znati koje podatke tvrtka prikuplja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prigovoriti obradi u marketinške svrhe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Pritužba: AZOP — azop.hr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Scenariji za prepoznavanje prijevare — vježba u grupi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SMS: 'HP: paket čeka, platite 1,99 €'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Poziv od 'Erste banke' traži PIN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Tom iz Libanona traži novac za avionsku kartu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Kaufland poklanja 100 kartica od 500 €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Posebne teme: Deepfake, QR kodovi i AI u rukama prevaranata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Deepfake videozapisi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Lažni videozapisi koji izgledaju kao stvarne osobe. Znakovi: usta se ne sinkroniziraju, kosa zamućena.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Lažni QR kodovi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Prevaranti lijeplje lažne QR naljepnice na parkomate i bankomate. Uvijek provjerite je li naljepnica originalna.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AI pomаže prevarantima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piše uvjerljive phishing poruke bez grešaka. Stara pravila 'loš pravopis = prijevara' više ne vrijede uvijek.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Investicijske prijevare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Lažne zarade na kriptovalutama — lažno pozivanje na EU, HNB ili poznate osobe. Oglasi na društvenim mrežama!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Kome se javiti u slučaju prijevare?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Moja digitalna sigurnost — Checklista za ponijeti kući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Tjedni pregled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Provjerio/la sam transakcije na bankovnom računu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kliknuo/la na sumnjive linkove u porukama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dijelio/la osobne podatke s nepoznatima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prosljeđivao/la poruke bez provjere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Na telefonu imam zaključani zaslon (PIN ili otisak)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Jednokratna provjera: imam li osnove?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sigurnosnu kopiju fotografija i dokumenata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Koristim 2FA za e-mail i bankovni račun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Profil na Facebooku postavljen je na 'Samo prijatelji'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0000"/>
                </a:solidFill>
              </a:rPr>
              <a:t>10 pravila digitalne higijene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1.  Nikad ne klikam na linkove u sumnjivim porukama.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3.  Svaki račun ima svoju lozinku.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4.  Na javnom Wi-Fiju ne provjeravam bankovni račun.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5.  Ažuriranja instaliram redovito.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6.  Sigurnosnu kopiju fotografija radim barem jednom tjedno.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7.  Dvofaktornu autentikaciju koristim gdje god je moguće.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8.  Neočekivanu 'nagradu' odmah sumnjičim.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10. U slučaju sumnje: zatvaram, zovem banku ili policiju.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52170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Znanje je najjača lozinka.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1878</Words>
  <Application>Microsoft Office PowerPoint</Application>
  <PresentationFormat>On-screen Show (16:9)</PresentationFormat>
  <Paragraphs>215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16</cp:revision>
  <dcterms:created xsi:type="dcterms:W3CDTF">2026-03-19T08:40:50Z</dcterms:created>
  <dcterms:modified xsi:type="dcterms:W3CDTF">2026-03-31T11:26:58Z</dcterms:modified>
</cp:coreProperties>
</file>