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78" r:id="rId11"/>
    <p:sldId id="279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89540-DC23-3454-5D8E-477127E17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A67C8-97D1-279B-3931-7A584C564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85B80C-651E-620F-5F79-208A424F9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5664B-0E8C-C467-5D38-80940DC1A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2496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8EC04-DE99-39FE-D08A-3D5B9F3EB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EABEF-0BB6-A7EC-837C-B5E9A39D0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FF391C-D5A5-2168-68CD-80F5EFAB92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5CAA2-9244-B860-250C-AD44CD8B2C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2302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4000" b="1" noProof="0" dirty="0">
                <a:solidFill>
                  <a:srgbClr val="FFFFFF"/>
                </a:solidFill>
              </a:rPr>
              <a:t>SIGURNOST</a:t>
            </a:r>
            <a:endParaRPr lang="hr-HR" sz="4000" noProof="0" dirty="0"/>
          </a:p>
          <a:p>
            <a:pPr marL="0" indent="0">
              <a:buNone/>
            </a:pPr>
            <a:r>
              <a:rPr lang="hr-HR" sz="4000" b="1" noProof="0" dirty="0">
                <a:solidFill>
                  <a:srgbClr val="FFFFFF"/>
                </a:solidFill>
              </a:rPr>
              <a:t>NA INTERNETU</a:t>
            </a:r>
            <a:endParaRPr lang="hr-HR" sz="40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3008376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hr-HR" sz="1400" noProof="0" dirty="0">
                <a:solidFill>
                  <a:srgbClr val="FFFFFF"/>
                </a:solidFill>
              </a:rPr>
              <a:t>Prepoznajte prijevaru · Zaštitite podatke · Budite sigurni online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1000" noProof="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hr-HR" sz="1000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Zašto je kibernetička sigurnost hitna tema?</a:t>
            </a:r>
            <a:endParaRPr lang="hr-HR" sz="2000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hr-HR" sz="1400" noProof="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hr-HR" sz="1400" noProof="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hr-H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200" b="1" noProof="0" dirty="0">
                <a:solidFill>
                  <a:srgbClr val="FFFFFF"/>
                </a:solidFill>
              </a:rPr>
              <a:t>Hrvatska 2024. — MUP RH</a:t>
            </a:r>
            <a:endParaRPr lang="hr-HR" sz="1200" noProof="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hr-HR" sz="1200" noProof="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hr-HR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hr-HR" sz="1200" noProof="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hr-HR" sz="1200" noProof="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hr-HR" sz="1200" noProof="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hr-H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r-HR" sz="1800" b="1" noProof="0" dirty="0">
                <a:solidFill>
                  <a:srgbClr val="FFFFFF"/>
                </a:solidFill>
              </a:rPr>
              <a:t>Znanje je</a:t>
            </a:r>
            <a:endParaRPr lang="hr-HR" sz="1800" noProof="0" dirty="0"/>
          </a:p>
          <a:p>
            <a:pPr marL="0" indent="0" algn="ctr">
              <a:buNone/>
            </a:pPr>
            <a:r>
              <a:rPr lang="hr-HR" sz="1800" b="1" noProof="0" dirty="0">
                <a:solidFill>
                  <a:srgbClr val="FFFFFF"/>
                </a:solidFill>
              </a:rPr>
              <a:t>jedina zaštita.</a:t>
            </a:r>
            <a:endParaRPr lang="hr-HR" sz="18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320040" y="1863897"/>
            <a:ext cx="8503920" cy="14661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hr-HR" noProof="0" dirty="0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Temeljni stupovi kibernetičke sigurnosti</a:t>
            </a:r>
            <a:endParaRPr lang="hr-HR" sz="20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hr-HR" noProof="0" dirty="0">
                <a:solidFill>
                  <a:srgbClr val="444444"/>
                </a:solidFill>
              </a:rPr>
              <a:t>Kibernetička sigurnost (ili sigurnost na internetu) skup je znanja, navika i alata kojima se štitimo od neovlaštenog pristupa našim podacima, uređajima i novcu.</a:t>
            </a:r>
            <a:endParaRPr lang="hr-HR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466284" y="2036768"/>
            <a:ext cx="8624059" cy="146615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hr-HR" b="1" noProof="0" dirty="0">
                <a:solidFill>
                  <a:srgbClr val="FF9999"/>
                </a:solidFill>
              </a:rPr>
              <a:t>Zaštita</a:t>
            </a:r>
            <a:r>
              <a:rPr lang="hr-HR" b="1" noProof="0" dirty="0">
                <a:solidFill>
                  <a:schemeClr val="bg1"/>
                </a:solidFill>
              </a:rPr>
              <a:t> </a:t>
            </a:r>
            <a:r>
              <a:rPr lang="hr-HR" b="1" noProof="0" dirty="0">
                <a:solidFill>
                  <a:srgbClr val="FF9999"/>
                </a:solidFill>
              </a:rPr>
              <a:t>podataka</a:t>
            </a:r>
            <a:r>
              <a:rPr lang="hr-HR" b="1" noProof="0" dirty="0">
                <a:solidFill>
                  <a:schemeClr val="bg1"/>
                </a:solidFill>
              </a:rPr>
              <a:t> </a:t>
            </a:r>
            <a:r>
              <a:rPr lang="hr-HR" noProof="0" dirty="0">
                <a:solidFill>
                  <a:schemeClr val="bg1"/>
                </a:solidFill>
              </a:rPr>
              <a:t>- osobnih informacija, lozinki i financijskih podataka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hr-HR" b="1" noProof="0" dirty="0">
                <a:solidFill>
                  <a:srgbClr val="FF9999"/>
                </a:solidFill>
              </a:rPr>
              <a:t>Zaštita uređaja </a:t>
            </a:r>
            <a:r>
              <a:rPr lang="hr-HR" noProof="0" dirty="0">
                <a:solidFill>
                  <a:schemeClr val="bg1"/>
                </a:solidFill>
              </a:rPr>
              <a:t>- računala, mobitela i tableta od zlonamjernih programa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hr-HR" b="1" noProof="0" dirty="0">
                <a:solidFill>
                  <a:srgbClr val="FF9999"/>
                </a:solidFill>
              </a:rPr>
              <a:t>Zaštita identiteta </a:t>
            </a:r>
            <a:r>
              <a:rPr lang="hr-HR" noProof="0" dirty="0">
                <a:solidFill>
                  <a:schemeClr val="bg1"/>
                </a:solidFill>
              </a:rPr>
              <a:t>- sprječavanje preuzimanja i zloupotrebe identiteta</a:t>
            </a:r>
          </a:p>
        </p:txBody>
      </p:sp>
      <p:pic>
        <p:nvPicPr>
          <p:cNvPr id="6" name="Graphic 5" descr="Folder Search with solid fill">
            <a:extLst>
              <a:ext uri="{FF2B5EF4-FFF2-40B4-BE49-F238E27FC236}">
                <a16:creationId xmlns:a16="http://schemas.microsoft.com/office/drawing/2014/main" id="{622A19C5-2552-48A5-F7B3-DCB819234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191" y="3839001"/>
            <a:ext cx="914400" cy="914400"/>
          </a:xfrm>
          <a:prstGeom prst="rect">
            <a:avLst/>
          </a:prstGeom>
        </p:spPr>
      </p:pic>
      <p:pic>
        <p:nvPicPr>
          <p:cNvPr id="9" name="Graphic 8" descr="Smart Phone with solid fill">
            <a:extLst>
              <a:ext uri="{FF2B5EF4-FFF2-40B4-BE49-F238E27FC236}">
                <a16:creationId xmlns:a16="http://schemas.microsoft.com/office/drawing/2014/main" id="{4D041FCB-D7F1-15D8-209A-58FCE3105A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3913" y="3839001"/>
            <a:ext cx="914400" cy="914400"/>
          </a:xfrm>
          <a:prstGeom prst="rect">
            <a:avLst/>
          </a:prstGeom>
        </p:spPr>
      </p:pic>
      <p:pic>
        <p:nvPicPr>
          <p:cNvPr id="11" name="Graphic 10" descr="Eye Scan with solid fill">
            <a:extLst>
              <a:ext uri="{FF2B5EF4-FFF2-40B4-BE49-F238E27FC236}">
                <a16:creationId xmlns:a16="http://schemas.microsoft.com/office/drawing/2014/main" id="{773215C1-20C3-7CC6-5A3C-16AADCCEB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01635" y="383900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Pojmovnik: što ove riječi zapravo znače?</a:t>
            </a:r>
            <a:endParaRPr lang="hr-HR" sz="2000" noProof="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324154"/>
              </p:ext>
            </p:extLst>
          </p:nvPr>
        </p:nvGraphicFramePr>
        <p:xfrm>
          <a:off x="22860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300" b="1" noProof="0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hr-HR" sz="13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300" b="1" noProof="0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hr-HR" sz="13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621FE143-32DB-7D9E-C949-7B6F8594A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99579" y="3630021"/>
            <a:ext cx="542145" cy="542145"/>
          </a:xfrm>
          <a:prstGeom prst="rect">
            <a:avLst/>
          </a:prstGeom>
        </p:spPr>
      </p:pic>
      <p:pic>
        <p:nvPicPr>
          <p:cNvPr id="8" name="Graphic 7" descr="Employee badge with solid fill">
            <a:extLst>
              <a:ext uri="{FF2B5EF4-FFF2-40B4-BE49-F238E27FC236}">
                <a16:creationId xmlns:a16="http://schemas.microsoft.com/office/drawing/2014/main" id="{3AC38BE4-0CF2-F281-CD0B-4DB6FC8241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54161" y="3033728"/>
            <a:ext cx="542145" cy="542145"/>
          </a:xfrm>
          <a:prstGeom prst="rect">
            <a:avLst/>
          </a:prstGeom>
        </p:spPr>
      </p:pic>
      <p:pic>
        <p:nvPicPr>
          <p:cNvPr id="10" name="Graphic 9" descr="Lock with solid fill">
            <a:extLst>
              <a:ext uri="{FF2B5EF4-FFF2-40B4-BE49-F238E27FC236}">
                <a16:creationId xmlns:a16="http://schemas.microsoft.com/office/drawing/2014/main" id="{A020C237-4922-E0CD-22F8-AF3939D3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9578" y="2528270"/>
            <a:ext cx="451310" cy="451310"/>
          </a:xfrm>
          <a:prstGeom prst="rect">
            <a:avLst/>
          </a:prstGeom>
        </p:spPr>
      </p:pic>
      <p:pic>
        <p:nvPicPr>
          <p:cNvPr id="12" name="Graphic 11" descr="Internet with solid fill">
            <a:extLst>
              <a:ext uri="{FF2B5EF4-FFF2-40B4-BE49-F238E27FC236}">
                <a16:creationId xmlns:a16="http://schemas.microsoft.com/office/drawing/2014/main" id="{64572AD6-EADE-DF6B-3AF9-417D6E788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9578" y="1967143"/>
            <a:ext cx="451310" cy="451310"/>
          </a:xfrm>
          <a:prstGeom prst="rect">
            <a:avLst/>
          </a:prstGeom>
        </p:spPr>
      </p:pic>
      <p:pic>
        <p:nvPicPr>
          <p:cNvPr id="14" name="Graphic 13" descr="Fishing with solid fill">
            <a:extLst>
              <a:ext uri="{FF2B5EF4-FFF2-40B4-BE49-F238E27FC236}">
                <a16:creationId xmlns:a16="http://schemas.microsoft.com/office/drawing/2014/main" id="{75AC0BEF-0C2A-855E-519F-ABF6AF0B8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5637" y="1304573"/>
            <a:ext cx="574383" cy="574383"/>
          </a:xfrm>
          <a:prstGeom prst="rect">
            <a:avLst/>
          </a:prstGeom>
        </p:spPr>
      </p:pic>
      <p:pic>
        <p:nvPicPr>
          <p:cNvPr id="16" name="Graphic 15" descr="Chat bubble with solid fill">
            <a:extLst>
              <a:ext uri="{FF2B5EF4-FFF2-40B4-BE49-F238E27FC236}">
                <a16:creationId xmlns:a16="http://schemas.microsoft.com/office/drawing/2014/main" id="{BD664F30-39E8-CF7A-A471-9938CE3F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99579" y="4156828"/>
            <a:ext cx="493895" cy="4938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7BA9CF3-5F95-8FF0-9183-97DC38E2AF6F}"/>
              </a:ext>
            </a:extLst>
          </p:cNvPr>
          <p:cNvSpPr txBox="1"/>
          <p:nvPr/>
        </p:nvSpPr>
        <p:spPr>
          <a:xfrm>
            <a:off x="3798313" y="4724166"/>
            <a:ext cx="944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1600" b="1" noProof="0" dirty="0"/>
              <a:t>998-226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Phishing: lažne poruke i stranice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Kako prepoznati phishing?</a:t>
            </a:r>
            <a:endParaRPr lang="hr-H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Stvarni slučaj — Split 2024.</a:t>
            </a:r>
            <a:endParaRPr lang="hr-H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300" noProof="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hr-HR" sz="1300" b="1" noProof="0" dirty="0">
                <a:solidFill>
                  <a:srgbClr val="FF9999"/>
                </a:solidFill>
              </a:rPr>
              <a:t>identično kao prava stranica banke.</a:t>
            </a:r>
            <a:endParaRPr lang="hr-HR" sz="1300" noProof="0" dirty="0"/>
          </a:p>
          <a:p>
            <a:pPr marL="0" indent="0">
              <a:buNone/>
            </a:pPr>
            <a:r>
              <a:rPr lang="hr-HR" sz="1300" noProof="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hr-HR" sz="1400" b="1" noProof="0" dirty="0">
                <a:solidFill>
                  <a:srgbClr val="FFFFFF"/>
                </a:solidFill>
              </a:rPr>
              <a:t>8.000 € ušteđevine.</a:t>
            </a:r>
            <a:endParaRPr lang="hr-HR" sz="1300" noProof="0" dirty="0"/>
          </a:p>
          <a:p>
            <a:pPr marL="0" indent="0">
              <a:buNone/>
            </a:pPr>
            <a:endParaRPr lang="hr-HR" sz="1300" noProof="0" dirty="0"/>
          </a:p>
          <a:p>
            <a:pPr marL="0" indent="0">
              <a:buNone/>
            </a:pPr>
            <a:endParaRPr lang="hr-HR" sz="1300" noProof="0" dirty="0"/>
          </a:p>
          <a:p>
            <a:pPr marL="0" indent="0">
              <a:buNone/>
            </a:pPr>
            <a:r>
              <a:rPr lang="hr-HR" sz="1200" i="1" noProof="0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hr-H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Hitnost i strah: 'Vaš račun će biti zatvoren za 24h!'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hr-HR" sz="1300" noProof="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r-HR" sz="5400" b="1" cap="none" spc="0" noProof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Virusi, ransomware i krađa identiteta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Kako se virus instalira?</a:t>
            </a:r>
            <a:endParaRPr lang="hr-H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Preuzimanjem softvera s neslužbenih stranica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Priključivanjem zaraženog USB sticka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hr-H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Krađa identiteta: znakovi i zaštita</a:t>
            </a:r>
            <a:endParaRPr lang="hr-H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hr-HR" sz="13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160693-3E68-C898-49D3-8402AA273E25}"/>
              </a:ext>
            </a:extLst>
          </p:cNvPr>
          <p:cNvSpPr txBox="1"/>
          <p:nvPr/>
        </p:nvSpPr>
        <p:spPr>
          <a:xfrm>
            <a:off x="1343582" y="4068308"/>
            <a:ext cx="1322547" cy="408623"/>
          </a:xfrm>
          <a:prstGeom prst="roundRect">
            <a:avLst/>
          </a:prstGeom>
          <a:solidFill>
            <a:srgbClr val="C00000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r-HR" noProof="0" dirty="0">
                <a:solidFill>
                  <a:schemeClr val="bg1"/>
                </a:solidFill>
              </a:rPr>
              <a:t>PREUZMITE</a:t>
            </a:r>
          </a:p>
        </p:txBody>
      </p:sp>
      <p:pic>
        <p:nvPicPr>
          <p:cNvPr id="1026" name="Picture 2" descr="Pop-up ads">
            <a:extLst>
              <a:ext uri="{FF2B5EF4-FFF2-40B4-BE49-F238E27FC236}">
                <a16:creationId xmlns:a16="http://schemas.microsoft.com/office/drawing/2014/main" id="{5510ADB7-150E-54BE-EEF8-F8693C17B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1722" y="3625768"/>
            <a:ext cx="1940556" cy="1293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Lažne vijesti i romantične / investicijske prijevare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Kako prepoznati lažnu vijest?</a:t>
            </a:r>
            <a:endParaRPr lang="hr-H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Naslov je šokantan i provocira emocije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Nema izvora ili autora — legitimni medij uvijek potpisuje tekst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Lažni logotipovi – uvijek provjeriti adresu u pregledniku za nepravilnosti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Ako niste sigurni </a:t>
            </a:r>
          </a:p>
          <a:p>
            <a:pPr>
              <a:spcAft>
                <a:spcPts val="700"/>
              </a:spcAft>
              <a:buSzPct val="100000"/>
            </a:pPr>
            <a:r>
              <a:rPr lang="hr-HR" sz="1300" noProof="0" dirty="0">
                <a:solidFill>
                  <a:srgbClr val="444444"/>
                </a:solidFill>
              </a:rPr>
              <a:t> NE DIJELITE dalje!</a:t>
            </a:r>
            <a:endParaRPr lang="hr-H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⚠  Romantična prijevara (romance scam)</a:t>
            </a:r>
            <a:endParaRPr lang="hr-H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Tipični znakovi prevaranta:
</a:t>
            </a:r>
            <a:r>
              <a:rPr lang="hr-HR" sz="1300" noProof="0" dirty="0">
                <a:solidFill>
                  <a:srgbClr val="FFAAAA"/>
                </a:solidFill>
              </a:rPr>
              <a:t>→ Jako brzo proglasi ljubav ili privrženost
</a:t>
            </a:r>
            <a:r>
              <a:rPr lang="hr-HR" sz="1300" noProof="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hr-HR" sz="1300" noProof="0" dirty="0">
                <a:solidFill>
                  <a:srgbClr val="FFAAAA"/>
                </a:solidFill>
              </a:rPr>
              <a:t>→ Traži novac za 'nužnu situaciju'
</a:t>
            </a:r>
            <a:r>
              <a:rPr lang="hr-HR" sz="1300" noProof="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hr-HR" sz="1200" i="1" noProof="0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hr-HR" sz="1300" noProof="0" dirty="0"/>
          </a:p>
        </p:txBody>
      </p:sp>
      <p:pic>
        <p:nvPicPr>
          <p:cNvPr id="1028" name="Picture 4" descr="Upozorenje građanima! Na društvenim mrežama su se pojavili plaćeni oglasi  koji pozivaju građane na lažne investicije! - CERT.hr">
            <a:extLst>
              <a:ext uri="{FF2B5EF4-FFF2-40B4-BE49-F238E27FC236}">
                <a16:creationId xmlns:a16="http://schemas.microsoft.com/office/drawing/2014/main" id="{1E4082D7-8D57-C635-DA4C-9241F0E37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3539" y="3305120"/>
            <a:ext cx="2629941" cy="152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Opasnosti na društvenim mrežama i WhatsApp/Viber prijevare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Pravila privatnosti na Facebooku</a:t>
            </a:r>
            <a:endParaRPr lang="hr-H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Postavite profil na 'Samo prijatelji'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Ne prihvaćajte zahtjeve nepoznatih osoba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Ne objavljujte adresu, broj telefona ni osobne dokumente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Redovito provjeravajte koje aplikacije imaju pristup profilu</a:t>
            </a:r>
            <a:endParaRPr lang="hr-H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WhatsApp/Viber prijevare — upozorenja</a:t>
            </a:r>
            <a:endParaRPr lang="hr-H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hr-HR" sz="1300" noProof="0" dirty="0"/>
          </a:p>
        </p:txBody>
      </p:sp>
      <p:pic>
        <p:nvPicPr>
          <p:cNvPr id="2050" name="Picture 2" descr="Navigating the Social Media Landscape | Adllins Media">
            <a:extLst>
              <a:ext uri="{FF2B5EF4-FFF2-40B4-BE49-F238E27FC236}">
                <a16:creationId xmlns:a16="http://schemas.microsoft.com/office/drawing/2014/main" id="{9A9CD57D-7940-8F00-3869-A551E072F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155" y="3638009"/>
            <a:ext cx="1829690" cy="103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5FB0933-4AD1-9F06-8472-3DACD24F73F3}"/>
              </a:ext>
            </a:extLst>
          </p:cNvPr>
          <p:cNvSpPr txBox="1"/>
          <p:nvPr/>
        </p:nvSpPr>
        <p:spPr>
          <a:xfrm>
            <a:off x="5485698" y="4023220"/>
            <a:ext cx="2816938" cy="408623"/>
          </a:xfrm>
          <a:prstGeom prst="roundRect">
            <a:avLst/>
          </a:prstGeom>
          <a:solidFill>
            <a:srgbClr val="C00000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hr-HR" noProof="0" dirty="0">
                <a:solidFill>
                  <a:schemeClr val="bg1"/>
                </a:solidFill>
              </a:rPr>
              <a:t>POVEZNICE (LINKOVI)!!!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Online bankarstvo: zlatna pravila sigurnosti</a:t>
            </a:r>
            <a:endParaRPr lang="hr-HR" sz="2000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hr-H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Sigurna stranica?</a:t>
            </a:r>
            <a:endParaRPr lang="hr-HR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400" noProof="0" dirty="0">
                <a:solidFill>
                  <a:srgbClr val="66FF66"/>
                </a:solidFill>
              </a:rPr>
              <a:t>✓ </a:t>
            </a:r>
            <a:r>
              <a:rPr lang="hr-HR" sz="1300" noProof="0" dirty="0">
                <a:solidFill>
                  <a:srgbClr val="CCCCCC"/>
                </a:solidFill>
              </a:rPr>
              <a:t>Lokot 🔒 u adresnoj traci
</a:t>
            </a:r>
            <a:r>
              <a:rPr lang="hr-HR" sz="1400" noProof="0" dirty="0">
                <a:solidFill>
                  <a:srgbClr val="66FF66"/>
                </a:solidFill>
              </a:rPr>
              <a:t>✓ </a:t>
            </a:r>
            <a:r>
              <a:rPr lang="hr-HR" sz="1300" noProof="0" dirty="0">
                <a:solidFill>
                  <a:srgbClr val="CCCCCC"/>
                </a:solidFill>
              </a:rPr>
              <a:t>Adresa počinje s https://
</a:t>
            </a:r>
            <a:r>
              <a:rPr lang="hr-HR" sz="1400" noProof="0" dirty="0">
                <a:solidFill>
                  <a:srgbClr val="66FF66"/>
                </a:solidFill>
              </a:rPr>
              <a:t>✓ </a:t>
            </a:r>
            <a:r>
              <a:rPr lang="hr-HR" sz="1300" noProof="0" dirty="0">
                <a:solidFill>
                  <a:srgbClr val="CCCCCC"/>
                </a:solidFill>
              </a:rPr>
              <a:t>Domena je točna:
</a:t>
            </a:r>
            <a:r>
              <a:rPr lang="hr-HR" sz="1300" b="1" noProof="0" dirty="0">
                <a:solidFill>
                  <a:srgbClr val="66FF66"/>
                </a:solidFill>
              </a:rPr>
              <a:t>hpb.hr
</a:t>
            </a:r>
            <a:r>
              <a:rPr lang="hr-HR" sz="1400" noProof="0" dirty="0">
                <a:solidFill>
                  <a:srgbClr val="FF6666"/>
                </a:solidFill>
              </a:rPr>
              <a:t>✗ </a:t>
            </a:r>
            <a:r>
              <a:rPr lang="hr-HR" sz="1300" noProof="0" dirty="0">
                <a:solidFill>
                  <a:srgbClr val="FF9999"/>
                </a:solidFill>
              </a:rPr>
              <a:t>NE: hpb-banka.com
</a:t>
            </a:r>
            <a:r>
              <a:rPr lang="hr-HR" sz="1400" noProof="0" dirty="0">
                <a:solidFill>
                  <a:srgbClr val="FF6666"/>
                </a:solidFill>
              </a:rPr>
              <a:t>✗ </a:t>
            </a:r>
            <a:r>
              <a:rPr lang="hr-HR" sz="1300" noProof="0" dirty="0">
                <a:solidFill>
                  <a:srgbClr val="FF9999"/>
                </a:solidFill>
              </a:rPr>
              <a:t>NE: hpb.hr.support.net</a:t>
            </a:r>
            <a:endParaRPr lang="hr-HR" sz="14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C3E5-74D9-DCC0-B302-CE5DEDA2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B78C3C5-C8EA-E210-3C48-658B0EEDE38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07A929-0E7C-250C-0931-CCE3C357A29B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Što se traži kod kartičnog plaćanja</a:t>
            </a:r>
            <a:endParaRPr lang="hr-HR" sz="20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411F5FD-3D31-E62E-7748-0FB61E882729}"/>
              </a:ext>
            </a:extLst>
          </p:cNvPr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Odaberite proizvode u web shopu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hr-HR" sz="1400" noProof="0" dirty="0">
                <a:solidFill>
                  <a:srgbClr val="444444"/>
                </a:solidFill>
              </a:rPr>
              <a:t>Otiđite na košaricu i kliknete naruči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 err="1">
                <a:solidFill>
                  <a:srgbClr val="444444"/>
                </a:solidFill>
              </a:rPr>
              <a:t>Unesite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adresu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dostave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i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idite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na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plaćanje</a:t>
            </a:r>
            <a:r>
              <a:rPr lang="en-US" sz="1400" noProof="0" dirty="0">
                <a:solidFill>
                  <a:srgbClr val="444444"/>
                </a:solidFill>
              </a:rPr>
              <a:t>, </a:t>
            </a:r>
            <a:r>
              <a:rPr lang="en-US" sz="1400" noProof="0" dirty="0" err="1">
                <a:solidFill>
                  <a:srgbClr val="444444"/>
                </a:solidFill>
              </a:rPr>
              <a:t>odaberite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način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plaćanja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karticom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 err="1">
                <a:solidFill>
                  <a:srgbClr val="444444"/>
                </a:solidFill>
              </a:rPr>
              <a:t>Webshop</a:t>
            </a:r>
            <a:r>
              <a:rPr lang="hr-HR" sz="1400" noProof="0" dirty="0">
                <a:solidFill>
                  <a:srgbClr val="444444"/>
                </a:solidFill>
              </a:rPr>
              <a:t> NIKADA neće tražiti vaš PIN </a:t>
            </a:r>
            <a:endParaRPr lang="en-US" sz="1400" noProof="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 err="1">
                <a:solidFill>
                  <a:srgbClr val="444444"/>
                </a:solidFill>
              </a:rPr>
              <a:t>Unesite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podatke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sa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kartice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podaci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vlasnika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broj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datum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isteka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cvc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 </a:t>
            </a:r>
            <a:r>
              <a:rPr lang="en-US" sz="1400" dirty="0" err="1">
                <a:solidFill>
                  <a:srgbClr val="444444"/>
                </a:solidFill>
              </a:rPr>
              <a:t>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kliknete</a:t>
            </a:r>
            <a:r>
              <a:rPr lang="en-US" sz="1400" dirty="0">
                <a:solidFill>
                  <a:srgbClr val="444444"/>
                </a:solidFill>
              </a:rPr>
              <a:t> “</a:t>
            </a:r>
            <a:r>
              <a:rPr lang="en-US" sz="1400" dirty="0" err="1">
                <a:solidFill>
                  <a:srgbClr val="444444"/>
                </a:solidFill>
              </a:rPr>
              <a:t>plati</a:t>
            </a:r>
            <a:r>
              <a:rPr lang="en-US" sz="1400" dirty="0">
                <a:solidFill>
                  <a:srgbClr val="444444"/>
                </a:solidFill>
              </a:rPr>
              <a:t>”</a:t>
            </a:r>
            <a:endParaRPr lang="hr-HR" sz="1400" noProof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>
                <a:solidFill>
                  <a:srgbClr val="444444"/>
                </a:solidFill>
              </a:rPr>
              <a:t>U </a:t>
            </a:r>
            <a:r>
              <a:rPr lang="en-US" sz="1400" noProof="0" dirty="0" err="1">
                <a:solidFill>
                  <a:srgbClr val="444444"/>
                </a:solidFill>
              </a:rPr>
              <a:t>aplikaciji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mobilnog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bankarstva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potvrdite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transakciju</a:t>
            </a:r>
            <a:endParaRPr lang="hr-HR" sz="1400" noProof="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BBA50C6-1858-CE9D-502A-012B94020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606" y="3056934"/>
            <a:ext cx="3546590" cy="1378588"/>
          </a:xfrm>
          <a:prstGeom prst="rect">
            <a:avLst/>
          </a:prstGeom>
        </p:spPr>
      </p:pic>
      <p:pic>
        <p:nvPicPr>
          <p:cNvPr id="14" name="Picture 13" descr="Plaćanje karticama | Gama Shop">
            <a:extLst>
              <a:ext uri="{FF2B5EF4-FFF2-40B4-BE49-F238E27FC236}">
                <a16:creationId xmlns:a16="http://schemas.microsoft.com/office/drawing/2014/main" id="{C6EC2E8C-806A-5227-393A-D09F031917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1674" y="804672"/>
            <a:ext cx="3708998" cy="1874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569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85A3B-933D-C21F-7E14-09096BB3C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37F7C-D6EB-A371-3462-A655ACF9708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533EBE-D935-B8C1-F456-0627C20E9B33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noProof="0" dirty="0">
                <a:solidFill>
                  <a:schemeClr val="bg1"/>
                </a:solidFill>
              </a:rPr>
              <a:t>“Pre paid” </a:t>
            </a:r>
            <a:r>
              <a:rPr lang="en-US" sz="2000" noProof="0" dirty="0" err="1">
                <a:solidFill>
                  <a:schemeClr val="bg1"/>
                </a:solidFill>
              </a:rPr>
              <a:t>kartice</a:t>
            </a:r>
            <a:r>
              <a:rPr lang="en-US" sz="2000" noProof="0" dirty="0">
                <a:solidFill>
                  <a:schemeClr val="bg1"/>
                </a:solidFill>
              </a:rPr>
              <a:t> - </a:t>
            </a:r>
            <a:r>
              <a:rPr lang="en-US" sz="2000" b="1" noProof="0" dirty="0">
                <a:solidFill>
                  <a:schemeClr val="bg1"/>
                </a:solidFill>
              </a:rPr>
              <a:t>Revolut </a:t>
            </a:r>
            <a:endParaRPr lang="hr-HR" sz="2000" b="1" i="1" noProof="0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5D9A5A5-4F75-25DC-A413-9879F4624985}"/>
              </a:ext>
            </a:extLst>
          </p:cNvPr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i="1" dirty="0">
                <a:solidFill>
                  <a:srgbClr val="444444"/>
                </a:solidFill>
              </a:rPr>
              <a:t>“Pre paid” – “Pred </a:t>
            </a:r>
            <a:r>
              <a:rPr lang="en-US" sz="1400" i="1" dirty="0" err="1">
                <a:solidFill>
                  <a:srgbClr val="444444"/>
                </a:solidFill>
              </a:rPr>
              <a:t>plaćena</a:t>
            </a:r>
            <a:r>
              <a:rPr lang="en-US" sz="1400" i="1" dirty="0">
                <a:solidFill>
                  <a:srgbClr val="444444"/>
                </a:solidFill>
              </a:rPr>
              <a:t>” </a:t>
            </a:r>
            <a:endParaRPr lang="hr-HR" sz="1400" i="1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 err="1">
                <a:solidFill>
                  <a:srgbClr val="444444"/>
                </a:solidFill>
              </a:rPr>
              <a:t>Aplikacije</a:t>
            </a:r>
            <a:r>
              <a:rPr lang="en-US" sz="1400" noProof="0" dirty="0">
                <a:solidFill>
                  <a:srgbClr val="444444"/>
                </a:solidFill>
              </a:rPr>
              <a:t> Revolut, </a:t>
            </a:r>
            <a:r>
              <a:rPr lang="en-US" sz="1400" noProof="0" dirty="0" err="1">
                <a:solidFill>
                  <a:srgbClr val="444444"/>
                </a:solidFill>
              </a:rPr>
              <a:t>KeksPay</a:t>
            </a:r>
            <a:r>
              <a:rPr lang="en-US" sz="1400" noProof="0" dirty="0">
                <a:solidFill>
                  <a:srgbClr val="444444"/>
                </a:solidFill>
              </a:rPr>
              <a:t>, </a:t>
            </a:r>
            <a:r>
              <a:rPr lang="en-US" sz="1400" noProof="0" dirty="0" err="1">
                <a:solidFill>
                  <a:srgbClr val="444444"/>
                </a:solidFill>
              </a:rPr>
              <a:t>AirCash</a:t>
            </a:r>
            <a:r>
              <a:rPr lang="en-US" sz="1400" noProof="0" dirty="0">
                <a:solidFill>
                  <a:srgbClr val="444444"/>
                </a:solidFill>
              </a:rPr>
              <a:t>…</a:t>
            </a:r>
            <a:endParaRPr lang="hr-HR" sz="1400" noProof="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>
                <a:solidFill>
                  <a:srgbClr val="444444"/>
                </a:solidFill>
              </a:rPr>
              <a:t>Revolut </a:t>
            </a:r>
            <a:r>
              <a:rPr lang="en-US" sz="1400" noProof="0" dirty="0" err="1">
                <a:solidFill>
                  <a:srgbClr val="444444"/>
                </a:solidFill>
              </a:rPr>
              <a:t>nudi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opciju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podizanja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gotovine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na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bilo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kojem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bankomatu</a:t>
            </a:r>
            <a:r>
              <a:rPr lang="en-US" sz="1400" noProof="0" dirty="0">
                <a:solidFill>
                  <a:srgbClr val="444444"/>
                </a:solidFill>
              </a:rPr>
              <a:t> bez </a:t>
            </a:r>
            <a:r>
              <a:rPr lang="en-US" sz="1400" noProof="0" dirty="0" err="1">
                <a:solidFill>
                  <a:srgbClr val="444444"/>
                </a:solidFill>
              </a:rPr>
              <a:t>naknade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ograničenje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do 5 puta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mjesečno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do 200€)</a:t>
            </a:r>
            <a:endParaRPr lang="hr-HR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>
                <a:solidFill>
                  <a:srgbClr val="444444"/>
                </a:solidFill>
              </a:rPr>
              <a:t>U </a:t>
            </a:r>
            <a:r>
              <a:rPr lang="en-US" sz="1400" noProof="0" dirty="0" err="1">
                <a:solidFill>
                  <a:srgbClr val="444444"/>
                </a:solidFill>
              </a:rPr>
              <a:t>trgovini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instalirajte</a:t>
            </a:r>
            <a:r>
              <a:rPr lang="en-US" sz="1400" noProof="0" dirty="0">
                <a:solidFill>
                  <a:srgbClr val="444444"/>
                </a:solidFill>
              </a:rPr>
              <a:t> Revolut </a:t>
            </a:r>
            <a:r>
              <a:rPr lang="en-US" sz="1400" noProof="0" dirty="0" err="1">
                <a:solidFill>
                  <a:srgbClr val="444444"/>
                </a:solidFill>
              </a:rPr>
              <a:t>aplikaciju</a:t>
            </a:r>
            <a:r>
              <a:rPr lang="en-US" sz="1400" noProof="0" dirty="0">
                <a:solidFill>
                  <a:srgbClr val="444444"/>
                </a:solidFill>
              </a:rPr>
              <a:t>, </a:t>
            </a:r>
            <a:r>
              <a:rPr lang="en-US" sz="1400" noProof="0" dirty="0" err="1">
                <a:solidFill>
                  <a:srgbClr val="444444"/>
                </a:solidFill>
              </a:rPr>
              <a:t>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unesite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svoje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podatke</a:t>
            </a:r>
            <a:r>
              <a:rPr lang="en-US" sz="1400" noProof="0" dirty="0">
                <a:solidFill>
                  <a:srgbClr val="444444"/>
                </a:solidFill>
              </a:rPr>
              <a:t> u </a:t>
            </a:r>
            <a:r>
              <a:rPr lang="en-US" sz="1400" noProof="0" dirty="0" err="1">
                <a:solidFill>
                  <a:srgbClr val="444444"/>
                </a:solidFill>
              </a:rPr>
              <a:t>aplikaciju</a:t>
            </a:r>
            <a:endParaRPr lang="en-US" sz="1400" noProof="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 err="1">
                <a:solidFill>
                  <a:srgbClr val="444444"/>
                </a:solidFill>
              </a:rPr>
              <a:t>Kliknite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na</a:t>
            </a:r>
            <a:r>
              <a:rPr lang="en-US" sz="1400" dirty="0">
                <a:solidFill>
                  <a:srgbClr val="444444"/>
                </a:solidFill>
              </a:rPr>
              <a:t> “</a:t>
            </a:r>
            <a:r>
              <a:rPr lang="en-US" sz="1400" dirty="0" err="1">
                <a:solidFill>
                  <a:srgbClr val="444444"/>
                </a:solidFill>
              </a:rPr>
              <a:t>dodavanje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novca</a:t>
            </a:r>
            <a:r>
              <a:rPr lang="en-US" sz="1400" dirty="0">
                <a:solidFill>
                  <a:srgbClr val="444444"/>
                </a:solidFill>
              </a:rPr>
              <a:t>” u </a:t>
            </a:r>
            <a:r>
              <a:rPr lang="en-US" sz="1400" dirty="0" err="1">
                <a:solidFill>
                  <a:srgbClr val="444444"/>
                </a:solidFill>
              </a:rPr>
              <a:t>donjem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izborniku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uplatite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novac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karticom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prateći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način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plaćanja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karticom</a:t>
            </a:r>
            <a:endParaRPr lang="en-US" sz="14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noProof="0" dirty="0" err="1">
                <a:solidFill>
                  <a:srgbClr val="444444"/>
                </a:solidFill>
              </a:rPr>
              <a:t>Kliknete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na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ikonu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noProof="0" dirty="0" err="1">
                <a:solidFill>
                  <a:srgbClr val="444444"/>
                </a:solidFill>
              </a:rPr>
              <a:t>kartice</a:t>
            </a:r>
            <a:r>
              <a:rPr lang="en-US" sz="1400" noProof="0" dirty="0">
                <a:solidFill>
                  <a:srgbClr val="444444"/>
                </a:solidFill>
              </a:rPr>
              <a:t> </a:t>
            </a:r>
            <a:r>
              <a:rPr lang="en-US" sz="1400" dirty="0">
                <a:solidFill>
                  <a:srgbClr val="444444"/>
                </a:solidFill>
              </a:rPr>
              <a:t>💳, </a:t>
            </a:r>
            <a:r>
              <a:rPr lang="en-US" sz="1400" dirty="0" err="1">
                <a:solidFill>
                  <a:srgbClr val="444444"/>
                </a:solidFill>
              </a:rPr>
              <a:t>naručite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fizičku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karticu</a:t>
            </a:r>
            <a:r>
              <a:rPr lang="en-US" sz="1400" dirty="0">
                <a:solidFill>
                  <a:srgbClr val="444444"/>
                </a:solidFill>
              </a:rPr>
              <a:t>, </a:t>
            </a:r>
            <a:r>
              <a:rPr lang="en-US" sz="1400" dirty="0" err="1">
                <a:solidFill>
                  <a:srgbClr val="444444"/>
                </a:solidFill>
              </a:rPr>
              <a:t>odaberite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dizajn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kartice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i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slijedite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daljnje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dirty="0" err="1">
                <a:solidFill>
                  <a:srgbClr val="444444"/>
                </a:solidFill>
              </a:rPr>
              <a:t>upute</a:t>
            </a:r>
            <a:r>
              <a:rPr lang="en-US" sz="1400" dirty="0">
                <a:solidFill>
                  <a:srgbClr val="444444"/>
                </a:solidFill>
              </a:rPr>
              <a:t> 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prva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kartica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je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besplatna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ali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se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plaća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dostava</a:t>
            </a:r>
            <a:r>
              <a:rPr lang="en-US" sz="14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hr-HR" sz="1400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 descr="Revolut kartica: Detaljan vodič kroz cijene, aktivaciju i korištenje |  Telegram.hr">
            <a:extLst>
              <a:ext uri="{FF2B5EF4-FFF2-40B4-BE49-F238E27FC236}">
                <a16:creationId xmlns:a16="http://schemas.microsoft.com/office/drawing/2014/main" id="{53AB8CF2-C514-3DEF-0CD9-88D4DF0EC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046" y="1551842"/>
            <a:ext cx="3058194" cy="2039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72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Praktična zaštita: lozinke, 2FA i ažuriranja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Dobra lozinka</a:t>
            </a:r>
            <a:endParaRPr lang="hr-HR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hr-HR" sz="1200" noProof="0" dirty="0">
                <a:solidFill>
                  <a:srgbClr val="444444"/>
                </a:solidFill>
              </a:rPr>
              <a:t>Dugačka, nasumična, jedinstvena za svaki račun. Upravitelj lozinki: Goole Password Manager</a:t>
            </a:r>
            <a:r>
              <a:rPr lang="en-US" sz="1200" noProof="0" dirty="0">
                <a:solidFill>
                  <a:srgbClr val="444444"/>
                </a:solidFill>
              </a:rPr>
              <a:t>, </a:t>
            </a:r>
            <a:r>
              <a:rPr lang="hr-HR" sz="1200" dirty="0">
                <a:solidFill>
                  <a:srgbClr val="444444"/>
                </a:solidFill>
              </a:rPr>
              <a:t>Bitwarde</a:t>
            </a:r>
            <a:r>
              <a:rPr lang="en-US" sz="1200" dirty="0">
                <a:solidFill>
                  <a:srgbClr val="444444"/>
                </a:solidFill>
              </a:rPr>
              <a:t>n, …</a:t>
            </a:r>
            <a:r>
              <a:rPr lang="hr-HR" sz="1200" noProof="0" dirty="0">
                <a:solidFill>
                  <a:srgbClr val="444444"/>
                </a:solidFill>
              </a:rPr>
              <a:t> (besplatni).</a:t>
            </a:r>
            <a:r>
              <a:rPr lang="en-US" sz="1200" noProof="0" dirty="0">
                <a:solidFill>
                  <a:srgbClr val="444444"/>
                </a:solidFill>
              </a:rPr>
              <a:t> Nude </a:t>
            </a:r>
            <a:r>
              <a:rPr lang="en-US" sz="1200" noProof="0" dirty="0" err="1">
                <a:solidFill>
                  <a:srgbClr val="444444"/>
                </a:solidFill>
              </a:rPr>
              <a:t>opciju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generiranja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spremanja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lozinki</a:t>
            </a:r>
            <a:r>
              <a:rPr lang="en-US" sz="1200" noProof="0" dirty="0">
                <a:solidFill>
                  <a:srgbClr val="444444"/>
                </a:solidFill>
              </a:rPr>
              <a:t>.</a:t>
            </a:r>
            <a:endParaRPr lang="hr-HR" sz="1200" noProof="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Dvofaktorna autentikacija (2FA)</a:t>
            </a:r>
            <a:endParaRPr lang="hr-HR" sz="1400" noProof="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Drugi sloj zaštite uz lozinku — SMS kod na telefon.</a:t>
            </a:r>
            <a:endParaRPr lang="hr-HR" sz="1200" noProof="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Ažuriranja sustava</a:t>
            </a:r>
            <a:endParaRPr lang="hr-HR" sz="1400" noProof="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Redovito ažurirajte Windows, Android</a:t>
            </a:r>
            <a:r>
              <a:rPr lang="en-US" sz="1200" noProof="0" dirty="0">
                <a:solidFill>
                  <a:srgbClr val="444444"/>
                </a:solidFill>
              </a:rPr>
              <a:t>,</a:t>
            </a:r>
            <a:r>
              <a:rPr lang="hr-HR" sz="1200" noProof="0" dirty="0">
                <a:solidFill>
                  <a:srgbClr val="444444"/>
                </a:solidFill>
              </a:rPr>
              <a:t> iOS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aplikacije</a:t>
            </a:r>
            <a:r>
              <a:rPr lang="hr-HR" sz="1200" noProof="0" dirty="0">
                <a:solidFill>
                  <a:srgbClr val="444444"/>
                </a:solidFill>
              </a:rPr>
              <a:t>. Ažuriranja krpe sigurnosne rupe koje hakeri aktivno iskorištavaju.</a:t>
            </a:r>
            <a:endParaRPr lang="hr-HR" sz="1200" noProof="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Sigurnosna kopija (backup)</a:t>
            </a:r>
            <a:endParaRPr lang="hr-HR" sz="1400" noProof="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Jedina prava zaštita od ransomwarea. Google Photos za slike, </a:t>
            </a:r>
            <a:r>
              <a:rPr lang="en-US" sz="1200" noProof="0" dirty="0">
                <a:solidFill>
                  <a:srgbClr val="444444"/>
                </a:solidFill>
              </a:rPr>
              <a:t>Google cloud </a:t>
            </a:r>
            <a:r>
              <a:rPr lang="en-US" sz="1200" noProof="0" dirty="0" err="1">
                <a:solidFill>
                  <a:srgbClr val="444444"/>
                </a:solidFill>
              </a:rPr>
              <a:t>ili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vanjski</a:t>
            </a:r>
            <a:r>
              <a:rPr lang="en-US" sz="1200" noProof="0" dirty="0">
                <a:solidFill>
                  <a:srgbClr val="444444"/>
                </a:solidFill>
              </a:rPr>
              <a:t> disk za </a:t>
            </a:r>
            <a:r>
              <a:rPr lang="en-US" sz="1200" noProof="0" dirty="0" err="1">
                <a:solidFill>
                  <a:srgbClr val="444444"/>
                </a:solidFill>
              </a:rPr>
              <a:t>dokumente</a:t>
            </a:r>
            <a:endParaRPr lang="hr-HR" sz="12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Nesigurni Wi-Fi i zaštita privatnosti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Pravila korištenja Wi-Fija</a:t>
            </a:r>
            <a:endParaRPr lang="hr-H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Ne upisujte lozinke dok ste na javnoj mreži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Isključite 'automatsko spajanje' na otvorene mreže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Za osjetljive radnje koristite mobilni internet (4G/5G)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hr-H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GDPR: vaša prava u EU</a:t>
            </a:r>
            <a:endParaRPr lang="hr-H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Imate pravo znati koje podatke tvrtka prikuplja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Imate pravo prigovoriti obradi u marketinške svrhe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Pritužba: AZOP — azop.hr</a:t>
            </a:r>
            <a:endParaRPr lang="hr-HR" sz="13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Scenariji za prepoznavanje prijevare — vježba u grupi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FFFFFF"/>
                </a:solidFill>
              </a:rPr>
              <a:t>⛔  PRIJEVARA</a:t>
            </a:r>
            <a:endParaRPr lang="hr-HR" sz="1200" noProof="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1A1A1A"/>
                </a:solidFill>
              </a:rPr>
              <a:t>SMS: 'HP: paket čeka, platite 1,99 €'</a:t>
            </a:r>
            <a:endParaRPr lang="hr-HR" sz="1200" noProof="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hr-H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FFFFFF"/>
                </a:solidFill>
              </a:rPr>
              <a:t>⛔  PRIJEVARA</a:t>
            </a:r>
            <a:endParaRPr lang="hr-HR" sz="1200" noProof="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1A1A1A"/>
                </a:solidFill>
              </a:rPr>
              <a:t>Poziv od 'Erste banke' traži PIN</a:t>
            </a:r>
            <a:endParaRPr lang="hr-HR" sz="1200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hr-HR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FFFFFF"/>
                </a:solidFill>
              </a:rPr>
              <a:t>⛔  PRIJEVARA</a:t>
            </a:r>
            <a:endParaRPr lang="hr-HR" sz="1200" noProof="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1A1A1A"/>
                </a:solidFill>
              </a:rPr>
              <a:t>Tom iz Libanona traži novac za avionsku kartu</a:t>
            </a:r>
            <a:endParaRPr lang="hr-HR" sz="1200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hr-HR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FFFFFF"/>
                </a:solidFill>
              </a:rPr>
              <a:t>⛔  PRIJEVARA</a:t>
            </a:r>
            <a:endParaRPr lang="hr-HR" sz="1200" noProof="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1200" b="1" noProof="0" dirty="0">
                <a:solidFill>
                  <a:srgbClr val="1A1A1A"/>
                </a:solidFill>
              </a:rPr>
              <a:t>Kaufland poklanja 100 kartica od 500 €</a:t>
            </a:r>
            <a:endParaRPr lang="hr-HR" sz="1200" noProof="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hr-HR" sz="12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Posebne teme: Deepfake, QR kodovi i AI u rukama prevaranata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Deepfake videozapisi</a:t>
            </a:r>
            <a:endParaRPr lang="hr-HR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Lažni videozapisi koji izgledaju kao stvarne osobe. Znakovi: usta se ne sinkroniziraju, kosa zamućena</a:t>
            </a:r>
            <a:r>
              <a:rPr lang="en-US" sz="1200" noProof="0" dirty="0">
                <a:solidFill>
                  <a:srgbClr val="444444"/>
                </a:solidFill>
              </a:rPr>
              <a:t>, </a:t>
            </a:r>
            <a:r>
              <a:rPr lang="en-US" sz="1200" noProof="0" dirty="0" err="1">
                <a:solidFill>
                  <a:srgbClr val="444444"/>
                </a:solidFill>
              </a:rPr>
              <a:t>nepravilni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prsti</a:t>
            </a:r>
            <a:r>
              <a:rPr lang="hr-HR" sz="1200" noProof="0" dirty="0">
                <a:solidFill>
                  <a:srgbClr val="444444"/>
                </a:solidFill>
              </a:rPr>
              <a:t>.</a:t>
            </a:r>
            <a:endParaRPr lang="hr-HR" sz="1200" noProof="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Lažni QR kodovi</a:t>
            </a:r>
            <a:endParaRPr lang="hr-HR" sz="1400" noProof="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Prevaranti lijeplje lažne QR naljepnice na parkomate i bankomate. </a:t>
            </a:r>
            <a:r>
              <a:rPr lang="en-US" sz="1200" noProof="0" dirty="0" err="1">
                <a:solidFill>
                  <a:srgbClr val="444444"/>
                </a:solidFill>
              </a:rPr>
              <a:t>Skenirajte</a:t>
            </a:r>
            <a:r>
              <a:rPr lang="en-US" sz="1200" noProof="0" dirty="0">
                <a:solidFill>
                  <a:srgbClr val="444444"/>
                </a:solidFill>
              </a:rPr>
              <a:t> QR </a:t>
            </a:r>
            <a:r>
              <a:rPr lang="en-US" sz="1200" noProof="0" dirty="0" err="1">
                <a:solidFill>
                  <a:srgbClr val="444444"/>
                </a:solidFill>
              </a:rPr>
              <a:t>kodove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samo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iz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pouzdanih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izvora</a:t>
            </a:r>
            <a:r>
              <a:rPr lang="en-US" sz="1200" noProof="0" dirty="0">
                <a:solidFill>
                  <a:srgbClr val="444444"/>
                </a:solidFill>
              </a:rPr>
              <a:t>.</a:t>
            </a:r>
            <a:endParaRPr lang="hr-HR" sz="1200" noProof="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AI pomаže prevarantima</a:t>
            </a:r>
            <a:endParaRPr lang="hr-HR" sz="1400" noProof="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ChatGPT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ili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drugi</a:t>
            </a:r>
            <a:r>
              <a:rPr lang="en-US" sz="1200" noProof="0" dirty="0">
                <a:solidFill>
                  <a:srgbClr val="444444"/>
                </a:solidFill>
              </a:rPr>
              <a:t> AI </a:t>
            </a:r>
            <a:r>
              <a:rPr lang="en-US" sz="1200" noProof="0" dirty="0" err="1">
                <a:solidFill>
                  <a:srgbClr val="444444"/>
                </a:solidFill>
              </a:rPr>
              <a:t>jezični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modeli</a:t>
            </a:r>
            <a:r>
              <a:rPr lang="hr-HR" sz="1200" noProof="0" dirty="0">
                <a:solidFill>
                  <a:srgbClr val="444444"/>
                </a:solidFill>
              </a:rPr>
              <a:t> pi</a:t>
            </a:r>
            <a:r>
              <a:rPr lang="en-US" sz="1200" dirty="0" err="1">
                <a:solidFill>
                  <a:srgbClr val="444444"/>
                </a:solidFill>
              </a:rPr>
              <a:t>šu</a:t>
            </a:r>
            <a:r>
              <a:rPr lang="hr-HR" sz="1200" noProof="0" dirty="0">
                <a:solidFill>
                  <a:srgbClr val="444444"/>
                </a:solidFill>
              </a:rPr>
              <a:t> uvjerljive phishing poruke bez grešaka. Stara pravila 'loš pravopis = prijevara' više ne vrijede uvijek.</a:t>
            </a:r>
            <a:endParaRPr lang="hr-HR" sz="1200" noProof="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1400" b="1" noProof="0" dirty="0">
                <a:solidFill>
                  <a:srgbClr val="1A1A1A"/>
                </a:solidFill>
              </a:rPr>
              <a:t>Investicijske prijevare</a:t>
            </a:r>
            <a:endParaRPr lang="hr-HR" sz="1400" noProof="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hr-HR" sz="1200" noProof="0" dirty="0">
                <a:solidFill>
                  <a:srgbClr val="444444"/>
                </a:solidFill>
              </a:rPr>
              <a:t>Lažne zarade na kriptovalutama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ili</a:t>
            </a:r>
            <a:r>
              <a:rPr lang="en-US" sz="1200" noProof="0" dirty="0">
                <a:solidFill>
                  <a:srgbClr val="444444"/>
                </a:solidFill>
              </a:rPr>
              <a:t> </a:t>
            </a:r>
            <a:r>
              <a:rPr lang="en-US" sz="1200" noProof="0" dirty="0" err="1">
                <a:solidFill>
                  <a:srgbClr val="444444"/>
                </a:solidFill>
              </a:rPr>
              <a:t>dionicama</a:t>
            </a:r>
            <a:r>
              <a:rPr lang="hr-HR" sz="1200" noProof="0" dirty="0">
                <a:solidFill>
                  <a:srgbClr val="444444"/>
                </a:solidFill>
              </a:rPr>
              <a:t> — lažno pozivanje na EU, HNB ili poznate osobe. Oglasi na društvenim mrežama!</a:t>
            </a:r>
            <a:endParaRPr lang="hr-HR" sz="12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Kome se javiti u slučaju prijevare?</a:t>
            </a:r>
            <a:endParaRPr lang="hr-HR" sz="2000" noProof="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423889"/>
              </p:ext>
            </p:extLst>
          </p:nvPr>
        </p:nvGraphicFramePr>
        <p:xfrm>
          <a:off x="27432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300" b="1" noProof="0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hr-HR" sz="13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300" b="1" noProof="0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hr-HR" sz="13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300" b="1" noProof="0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hr-HR" sz="13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hr-HR" sz="1200" noProof="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hr-HR" sz="1200" noProof="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r-HR" sz="2000" b="1" noProof="0" dirty="0">
                <a:solidFill>
                  <a:srgbClr val="FFFFFF"/>
                </a:solidFill>
              </a:rPr>
              <a:t>Moja digitalna sigurnost — Checklista za ponijeti kući</a:t>
            </a:r>
            <a:endParaRPr lang="hr-HR" sz="20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Tjedni pregled</a:t>
            </a:r>
            <a:endParaRPr lang="hr-HR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Provjerio/la sam transakcije na bankovnom računu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Nisam kliknuo/la na sumnjive linkove u porukama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Nisam dijelio/la osobne podatke s nepoznatima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Nisam prosljeđivao/la poruke bez provjere</a:t>
            </a:r>
            <a:endParaRPr lang="hr-HR" sz="1300" noProof="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Na telefonu imam zaključani zaslon</a:t>
            </a:r>
            <a:endParaRPr lang="hr-HR" sz="1300" noProof="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hr-HR" noProof="0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r-HR" sz="1300" b="1" noProof="0" dirty="0">
                <a:solidFill>
                  <a:srgbClr val="FFFFFF"/>
                </a:solidFill>
              </a:rPr>
              <a:t>Jednokratna provjera: imam li osnove?</a:t>
            </a:r>
            <a:endParaRPr lang="hr-HR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hr-HR" sz="13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Imam sigurnosnu kopiju fotografija i dokumenata</a:t>
            </a:r>
            <a:endParaRPr lang="hr-HR" sz="13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Koristim 2FA za e-mail i bankovni račun</a:t>
            </a:r>
            <a:endParaRPr lang="hr-HR" sz="13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hr-HR" sz="13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Profil na Facebooku postavljen je na 'Samo prijatelji'</a:t>
            </a:r>
            <a:endParaRPr lang="hr-HR" sz="1300" noProof="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hr-HR" sz="1300" noProof="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hr-HR" sz="130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hr-HR" noProof="0" dirty="0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2600" b="1" noProof="0" dirty="0">
                <a:solidFill>
                  <a:srgbClr val="CC0000"/>
                </a:solidFill>
              </a:rPr>
              <a:t>10 pravila digitalne higijene</a:t>
            </a:r>
            <a:endParaRPr lang="hr-H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1.  Nikad ne klikam na linkove u sumnjivim porukama.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3.  Svaki račun ima svoju lozinku.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4.  Na javnom Wi-Fiju ne provjeravam bankovni račun.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5.  Ažuriranja instaliram redovito.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6.  Sigurnosnu kopiju fotografija radim barem jednom tjedno.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7.  Dvofaktornu autentikaciju koristim gdje god je moguće.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8.  Neočekivanu 'nagradu' odmah sumnjičim.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hr-HR" sz="1300" noProof="0" dirty="0"/>
          </a:p>
          <a:p>
            <a:pPr marL="0" indent="0">
              <a:spcAft>
                <a:spcPts val="500"/>
              </a:spcAft>
              <a:buNone/>
            </a:pPr>
            <a:r>
              <a:rPr lang="hr-HR" sz="1300" noProof="0" dirty="0">
                <a:solidFill>
                  <a:srgbClr val="DDDDDD"/>
                </a:solidFill>
              </a:rPr>
              <a:t>10. U slučaju sumnje: zatvaram, zovem banku ili policiju.</a:t>
            </a:r>
            <a:endParaRPr lang="hr-H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45217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1100" i="1" noProof="0" dirty="0">
                <a:solidFill>
                  <a:srgbClr val="888888"/>
                </a:solidFill>
              </a:rPr>
              <a:t>Znanje je najjača lozinka.</a:t>
            </a:r>
            <a:endParaRPr lang="hr-HR" sz="1100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hr-HR" sz="2800" b="1" noProof="0" dirty="0">
                <a:solidFill>
                  <a:srgbClr val="FFFFFF"/>
                </a:solidFill>
              </a:rPr>
              <a:t>Pitanja?</a:t>
            </a:r>
            <a:endParaRPr lang="hr-HR" sz="2800" noProof="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hr-HR" sz="900" noProof="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hr-HR" sz="9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1994</Words>
  <Application>Microsoft Office PowerPoint</Application>
  <PresentationFormat>On-screen Show (16:9)</PresentationFormat>
  <Paragraphs>227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21</cp:revision>
  <dcterms:created xsi:type="dcterms:W3CDTF">2026-03-19T08:40:50Z</dcterms:created>
  <dcterms:modified xsi:type="dcterms:W3CDTF">2026-04-01T08:03:38Z</dcterms:modified>
</cp:coreProperties>
</file>