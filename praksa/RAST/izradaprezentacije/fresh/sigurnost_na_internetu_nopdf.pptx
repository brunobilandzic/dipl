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4864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949440" y="640080"/>
            <a:ext cx="1737360" cy="1737360"/>
          </a:xfrm>
          <a:prstGeom prst="ellipse">
            <a:avLst/>
          </a:prstGeom>
          <a:solidFill>
            <a:srgbClr val="2E7D9F">
              <a:alpha val="60000"/>
            </a:srgbClr>
          </a:solidFill>
          <a:ln w="12700">
            <a:solidFill>
              <a:srgbClr val="2E7D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0" y="822960"/>
            <a:ext cx="1371600" cy="1371600"/>
          </a:xfrm>
          <a:prstGeom prst="ellipse">
            <a:avLst/>
          </a:prstGeom>
          <a:solidFill>
            <a:srgbClr val="F5A623">
              <a:alpha val="5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086600" y="749808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🌐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SIGURNOST NA INTERNETU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Vodič za sigurno i ugodno korištenje interneta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621792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Korak po korak — jednostavno i bez straha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2E7D9F"/>
          </a:solidFill>
          <a:ln w="12700">
            <a:solidFill>
              <a:srgbClr val="2E7D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7D9F"/>
          </a:solidFill>
          <a:ln w="12700">
            <a:solidFill>
              <a:srgbClr val="2E7D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 razloga za strah! 😊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8412480" cy="1463040"/>
          </a:xfrm>
          <a:prstGeom prst="rect">
            <a:avLst/>
          </a:prstGeom>
          <a:solidFill>
            <a:srgbClr val="E8F7F0"/>
          </a:solidFill>
          <a:ln w="254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je alat — kao telefon ili televizor.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ste ti koji odlučujete što ćete raditi.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8412480" cy="658368"/>
          </a:xfrm>
          <a:prstGeom prst="rect">
            <a:avLst/>
          </a:prstGeom>
          <a:solidFill>
            <a:srgbClr val="E8F4F8"/>
          </a:solidFill>
          <a:ln w="12700">
            <a:solidFill>
              <a:srgbClr val="2E7D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700" dirty="0" err="1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Milijarde</a:t>
            </a:r>
            <a:r>
              <a:rPr lang="en-US" sz="170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osoba</a:t>
            </a:r>
            <a:r>
              <a:rPr lang="en-US" sz="17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svaki dan sigurno koriste internet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65760" y="3081528"/>
            <a:ext cx="8412480" cy="658368"/>
          </a:xfrm>
          <a:prstGeom prst="rect">
            <a:avLst/>
          </a:prstGeom>
          <a:solidFill>
            <a:srgbClr val="E8F4F8"/>
          </a:solidFill>
          <a:ln w="12700">
            <a:solidFill>
              <a:srgbClr val="2E7D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12724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 nekoliko jednostavnih pravila možete se zaštititi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65760" y="3831336"/>
            <a:ext cx="8412480" cy="658368"/>
          </a:xfrm>
          <a:prstGeom prst="rect">
            <a:avLst/>
          </a:prstGeom>
          <a:solidFill>
            <a:srgbClr val="E8F4F8"/>
          </a:solidFill>
          <a:ln w="12700">
            <a:solidFill>
              <a:srgbClr val="2E7D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877056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Internet vam može olakšati život — vijesti, recepti, obitelj...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2E7D9F"/>
          </a:solidFill>
          <a:ln w="12700">
            <a:solidFill>
              <a:srgbClr val="2E7D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Što sve možete raditi na internetu?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4206240" cy="12344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7D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58952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📰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234440" y="77724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Čitati vijesti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23444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Portali, novine, vremenski uvjeti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685800"/>
            <a:ext cx="4206240" cy="12344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7D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758952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📧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669280" y="77724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Dopisivati 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9280" y="123444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WhatsApp, Viber s obitelji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112264"/>
            <a:ext cx="4206240" cy="12344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7D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185416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🎬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234440" y="2203704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Gledati sadržaje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2660904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YouTube, serije, recepti, hobiji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112264"/>
            <a:ext cx="4206240" cy="12344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7D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2185416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🗺️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669280" y="2203704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Koristiti karte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69280" y="2660904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Maps, putni savjeti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3538728"/>
            <a:ext cx="4206240" cy="12344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7D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36118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🛒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1234440" y="3630168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Kupovati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408736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 oprez — uvijek pouzećem!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3538728"/>
            <a:ext cx="4206240" cy="12344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7D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0" y="36118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👨‍👩‍👧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5669280" y="3630168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Biti s obitelji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69280" y="408736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pozivi, dijeljenje fotografija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2E7D9F"/>
          </a:solidFill>
          <a:ln w="12700">
            <a:solidFill>
              <a:srgbClr val="2E7D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Kupovina na internetu — sigurno plaćanje 💳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1005840"/>
          </a:xfrm>
          <a:prstGeom prst="rect">
            <a:avLst/>
          </a:prstGeom>
          <a:solidFill>
            <a:srgbClr val="E8F7F0"/>
          </a:solidFill>
          <a:ln w="3175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80467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A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PREPORUKA: Uvijek plaćajte pouzećem — gotovinom poštaru pri </a:t>
            </a:r>
            <a:r>
              <a:rPr lang="en-US" sz="1900" b="1" dirty="0" err="1">
                <a:solidFill>
                  <a:srgbClr val="1A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dostavi</a:t>
            </a:r>
            <a:r>
              <a:rPr lang="en-US" sz="1900" b="1" dirty="0">
                <a:solidFill>
                  <a:srgbClr val="1A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A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Plaćajte gotovinom poštaru (pouzeće) — vidite robu, pa platite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A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Kupujte samo na poznatim stranicama (Njuškalo, Amazon, </a:t>
            </a:r>
            <a:r>
              <a:rPr lang="en-US" sz="1450" dirty="0" err="1">
                <a:solidFill>
                  <a:srgbClr val="1A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Konzum</a:t>
            </a:r>
            <a:r>
              <a:rPr lang="en-US" sz="1450" dirty="0">
                <a:solidFill>
                  <a:srgbClr val="1A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50" dirty="0" err="1">
                <a:solidFill>
                  <a:srgbClr val="1A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itd</a:t>
            </a:r>
            <a:r>
              <a:rPr lang="en-US" sz="1450" dirty="0">
                <a:solidFill>
                  <a:srgbClr val="1A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A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Provjerite recenzije i ocjene prodavača prije kupnje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0292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7A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Ako morate platiti unaprijed — pitajte mlađeg člana obitelji za savjet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0292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NIKADA ne unosite broj bankovne kartice na nepoznatim stranicama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0292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Cijena koja je 'prekrasna da bi bila istinita' — obično je prijevara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2E7D9F"/>
          </a:solidFill>
          <a:ln w="12700">
            <a:solidFill>
              <a:srgbClr val="2E7D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Društvene mreže — Facebook i ostale 📱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402336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👍  TO RADITE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023360" cy="594360"/>
          </a:xfrm>
          <a:prstGeom prst="rect">
            <a:avLst/>
          </a:prstGeom>
          <a:solidFill>
            <a:srgbClr val="E8F7F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384048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Dopisujte se s obitelji i prijateljima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1856232"/>
            <a:ext cx="4023360" cy="594360"/>
          </a:xfrm>
          <a:prstGeom prst="rect">
            <a:avLst/>
          </a:prstGeom>
          <a:solidFill>
            <a:srgbClr val="E8F7F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384048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Dijelite fotografije s voljenima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20040" y="2523744"/>
            <a:ext cx="4023360" cy="594360"/>
          </a:xfrm>
          <a:prstGeom prst="rect">
            <a:avLst/>
          </a:prstGeom>
          <a:solidFill>
            <a:srgbClr val="E8F7F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542032"/>
            <a:ext cx="384048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Pratite stranice koje vas vesele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20040" y="3191256"/>
            <a:ext cx="4023360" cy="594360"/>
          </a:xfrm>
          <a:prstGeom prst="rect">
            <a:avLst/>
          </a:prstGeom>
          <a:solidFill>
            <a:srgbClr val="E8F7F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3209544"/>
            <a:ext cx="384048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Koristite postavke privatnosti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20040" y="3858768"/>
            <a:ext cx="4023360" cy="594360"/>
          </a:xfrm>
          <a:prstGeom prst="rect">
            <a:avLst/>
          </a:prstGeom>
          <a:solidFill>
            <a:srgbClr val="E8F7F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3877056"/>
            <a:ext cx="384048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Prihvaćajte samo osobe koje znate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800600" y="685800"/>
            <a:ext cx="402336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00600" y="685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👎  TO NE RADITE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00600" y="1188720"/>
            <a:ext cx="4023360" cy="594360"/>
          </a:xfrm>
          <a:prstGeom prst="rect">
            <a:avLst/>
          </a:prstGeom>
          <a:solidFill>
            <a:srgbClr val="FDE8E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1207008"/>
            <a:ext cx="384048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Nemojte dijeliti adresu i broj telefona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800600" y="1856232"/>
            <a:ext cx="4023360" cy="594360"/>
          </a:xfrm>
          <a:prstGeom prst="rect">
            <a:avLst/>
          </a:prstGeom>
          <a:solidFill>
            <a:srgbClr val="FDE8E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1874520"/>
            <a:ext cx="384048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Ne prihvaćajte nepoznate osobe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800600" y="2523744"/>
            <a:ext cx="4023360" cy="594360"/>
          </a:xfrm>
          <a:prstGeom prst="rect">
            <a:avLst/>
          </a:prstGeom>
          <a:solidFill>
            <a:srgbClr val="FDE8E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92040" y="2542032"/>
            <a:ext cx="384048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Ne objavljujte kad ste odsutni od kuće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800600" y="3191256"/>
            <a:ext cx="4023360" cy="594360"/>
          </a:xfrm>
          <a:prstGeom prst="rect">
            <a:avLst/>
          </a:prstGeom>
          <a:solidFill>
            <a:srgbClr val="FDE8E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3209544"/>
            <a:ext cx="384048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Ne klikajte na svaki link koji vidite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800600" y="3858768"/>
            <a:ext cx="4023360" cy="594360"/>
          </a:xfrm>
          <a:prstGeom prst="rect">
            <a:avLst/>
          </a:prstGeom>
          <a:solidFill>
            <a:srgbClr val="FDE8E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3877056"/>
            <a:ext cx="384048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r>
              <a:rPr lang="en-US" sz="1350" dirty="0" err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Provjerite</a:t>
            </a:r>
            <a:r>
              <a:rPr lang="en-US" sz="13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izvore</a:t>
            </a:r>
            <a:r>
              <a:rPr lang="en-US" sz="13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vijesti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2E7D9F"/>
          </a:solidFill>
          <a:ln w="12700">
            <a:solidFill>
              <a:srgbClr val="2E7D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Prevare i lažne nagrade — pazite se!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777240"/>
          </a:xfrm>
          <a:prstGeom prst="rect">
            <a:avLst/>
          </a:prstGeom>
          <a:solidFill>
            <a:srgbClr val="FFF3E0"/>
          </a:solidFill>
          <a:ln w="254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82296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Ako nešto izgleda "predobro" — gotovo sigurno je prijevara!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73152" cy="7132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554480"/>
            <a:ext cx="8412480" cy="713232"/>
          </a:xfrm>
          <a:prstGeom prst="rect">
            <a:avLst/>
          </a:prstGeom>
          <a:solidFill>
            <a:srgbClr val="FDE8E8"/>
          </a:solidFill>
          <a:ln w="12700">
            <a:solidFill>
              <a:srgbClr val="E0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Lažne nagrade i lutrija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188366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"Čestitamo! Osvojili ste iPhone!" — Nikad niste sudjelovali, a nagrade ne postoje.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377440"/>
            <a:ext cx="73152" cy="7132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" y="2377440"/>
            <a:ext cx="8412480" cy="713232"/>
          </a:xfrm>
          <a:prstGeom prst="rect">
            <a:avLst/>
          </a:prstGeom>
          <a:solidFill>
            <a:srgbClr val="FDE8E8"/>
          </a:solidFill>
          <a:ln w="12700">
            <a:solidFill>
              <a:srgbClr val="E0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414016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Hitnost i žurnost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270662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"Samo još 5 minuta!" ili "Odmah reagirajte!" — pritisak znači prijevaru.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200400"/>
            <a:ext cx="73152" cy="7132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" y="3200400"/>
            <a:ext cx="8412480" cy="713232"/>
          </a:xfrm>
          <a:prstGeom prst="rect">
            <a:avLst/>
          </a:prstGeom>
          <a:solidFill>
            <a:srgbClr val="FDE8E8"/>
          </a:solidFill>
          <a:ln w="12700">
            <a:solidFill>
              <a:srgbClr val="E0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3236976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Lažna tehnička podrška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4360" y="352958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"Vaše računalo ima virus, nazovite nas odmah!" — Lažno je, ne zovite!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4023360"/>
            <a:ext cx="73152" cy="7132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4023360"/>
            <a:ext cx="8412480" cy="713232"/>
          </a:xfrm>
          <a:prstGeom prst="rect">
            <a:avLst/>
          </a:prstGeom>
          <a:solidFill>
            <a:srgbClr val="FDE8E8"/>
          </a:solidFill>
          <a:ln w="12700">
            <a:solidFill>
              <a:srgbClr val="E0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4059936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poruke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4360" y="435254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Poruke koje traže lozinku ili podatke kartice — banka to NIKAD ne traži emailom.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Reklame i iskačući prozori — ne klikajte!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777240"/>
          </a:xfrm>
          <a:prstGeom prst="rect">
            <a:avLst/>
          </a:prstGeom>
          <a:solidFill>
            <a:srgbClr val="E8F4F8"/>
          </a:solidFill>
          <a:ln w="25400">
            <a:solidFill>
              <a:srgbClr val="2E7D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82296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🖱️  Reklame su svuda na internetu — to je normalno. Ali ne morate klikati na njih!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4206240" cy="1463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7D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664208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🚫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34440" y="166420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Iskačući prozori (pop-up)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07568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Pojave se sami od sebe. Zatvorite ih klikom na X u kutu — ali pažljivo, pravi X je mali.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54880" y="1572768"/>
            <a:ext cx="4206240" cy="1463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7D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664208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🎰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0" y="166420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"Spin i osvoji" reklame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0" y="207568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Kotači, nagradne igre, blještave reklame — sve je lažno. Ne klikajte.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3200400"/>
            <a:ext cx="4206240" cy="1463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7D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3291840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📥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234440" y="32918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Lažna dugmad za preuzimanje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37033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Veliki gumbi "PREUZMI" ili "INSTALIRAJ" često su reklame, ne pravi gumbi.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54880" y="3200400"/>
            <a:ext cx="4206240" cy="1463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7D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3291840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📵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669280" y="32918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Poruke o virusu u pregledniku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0" y="37033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"Vaše računalo je zaraženo!" u web-stranici — lažno je. Ugasite stranicu.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2E7D9F"/>
          </a:solidFill>
          <a:ln w="12700">
            <a:solidFill>
              <a:srgbClr val="2E7D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Zlatna pravila sigurnog interneta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078992"/>
            <a:ext cx="78181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žurite — prijevare potiču žurnost. Stanite i razmislite.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20040" y="1865376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865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847088"/>
            <a:ext cx="78181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Plaćajte pouzećem — gotovinom poštaru, nakon što vidite robu.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320040" y="2633472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2633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615184"/>
            <a:ext cx="78181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Niste ništa osvojili — ako niste sudjelovali, nema nagrade.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320040" y="3401568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3401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3383280"/>
            <a:ext cx="78181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klikajte reklame — zatvorite iskačuće prozore mirno.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320040" y="4169664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4169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4151376"/>
            <a:ext cx="78181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Pitajte nekoga — kod sumnje uvijek pitajte ukućane ili prijatelje.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2E7D9F"/>
          </a:solidFill>
          <a:ln w="12700">
            <a:solidFill>
              <a:srgbClr val="2E7D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4846320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je vaš prijatelj — koristite ga s uživanjem i oprezom! 😊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600</Words>
  <Application>Microsoft Office PowerPoint</Application>
  <PresentationFormat>On-screen Show (16:9)</PresentationFormat>
  <Paragraphs>94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Sigurnost na internetu</dc:title>
  <dc:subject>PptxGenJS Presentation</dc:subject>
  <dc:creator>PptxGenJS</dc:creator>
  <cp:lastModifiedBy>Bruno Bilandžić</cp:lastModifiedBy>
  <cp:revision>3</cp:revision>
  <dcterms:created xsi:type="dcterms:W3CDTF">2026-03-30T11:46:53Z</dcterms:created>
  <dcterms:modified xsi:type="dcterms:W3CDTF">2026-03-31T08:15:22Z</dcterms:modified>
</cp:coreProperties>
</file>