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5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" y="594360"/>
            <a:ext cx="2011680" cy="2011680"/>
          </a:xfrm>
          <a:prstGeom prst="ellipse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229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743200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INTERNETU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023360" y="685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Priručnik za edukatore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023360" y="1508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Namijenjen odraslima i osobama starije životne dobi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023360" y="2240280"/>
            <a:ext cx="4663440" cy="1691640"/>
          </a:xfrm>
          <a:prstGeom prst="rect">
            <a:avLst/>
          </a:prstGeom>
          <a:solidFill>
            <a:srgbClr val="1E3A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023360" y="2240280"/>
            <a:ext cx="91440" cy="169164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06240" y="23317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u="sng" dirty="0">
                <a:solidFill>
                  <a:schemeClr val="bg1"/>
                </a:solidFill>
                <a:highlight>
                  <a:srgbClr val="FF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2.167 kibernetičkih kaznenih djela</a:t>
            </a:r>
            <a:endParaRPr lang="en-US" sz="1700" u="sng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pPr marL="0" indent="0">
              <a:buNone/>
            </a:pPr>
            <a:r>
              <a:rPr lang="en-US" sz="1700" u="sng" dirty="0">
                <a:solidFill>
                  <a:schemeClr val="bg1"/>
                </a:solidFill>
                <a:highlight>
                  <a:srgbClr val="FF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 RH u 2024.</a:t>
            </a:r>
            <a:endParaRPr lang="en-US" sz="1700" u="sng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11" name="Text 8"/>
          <p:cNvSpPr/>
          <p:nvPr/>
        </p:nvSpPr>
        <p:spPr>
          <a:xfrm>
            <a:off x="4206240" y="310896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Financijska šteta: 17 milijuna eura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2336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Izvor: MUP RH, 2024.  |  Veljača 2026.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23360" y="446227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Razvojna agencija Split – RaST | SMART CITY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radionica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932688"/>
            <a:ext cx="3977640" cy="150876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005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RADIONICA 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15087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opasno na internetu i kako to prepoznati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617720" y="932688"/>
            <a:ext cx="3977640" cy="150876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00600" y="1005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RADIONICA 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800600" y="15087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Zaštita, lozinke, bankarstvo, Wi-Fi i privatnost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74320" y="26060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Raspored svake radionice: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8595360" cy="2011680"/>
        </p:xfrm>
        <a:graphic>
          <a:graphicData uri="http://schemas.openxmlformats.org/drawingml/2006/table">
            <a:tbl>
              <a:tblPr/>
              <a:tblGrid>
                <a:gridCol w="676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Aktivnost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Trajanje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Uvod i upoznavanje s temom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Predavanje s primjerima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Vježba (scenariji)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Diskusija i pitanja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Zaključak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kibernetička sigurnost?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93268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"Svakodnevna digitalna higijena – slično pranju ruku ili zaključavanju vrata."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28600" y="1664208"/>
            <a:ext cx="2743200" cy="28346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80160" y="1801368"/>
            <a:ext cx="658368" cy="65836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847088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" y="26060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Zaštita podataka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20040" y="318211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Osobnih informacija,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lozinki i financijskih podataka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172968" y="1664208"/>
            <a:ext cx="2743200" cy="283464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224528" y="1801368"/>
            <a:ext cx="658368" cy="65836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1847088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64408" y="26060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Zaštita uređaja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264408" y="318211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Računala, mobitela i tableta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zlonamjernih programa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117336" y="1664208"/>
            <a:ext cx="2743200" cy="2834640"/>
          </a:xfrm>
          <a:prstGeom prst="rect">
            <a:avLst/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168896" y="1801368"/>
            <a:ext cx="658368" cy="65836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1847088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08776" y="26060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Zaštita identiteta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208776" y="318211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Sprječavanje preuzimanja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zlouporabe vašeg identiteta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274320" y="4617720"/>
            <a:ext cx="8595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Znanje je jedina zaštita.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pojmovi – pojmovnik  (1/2)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868680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932688"/>
            <a:ext cx="82296" cy="85953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84048" y="1362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Lažna poruka ili stranica koja vas nagovara da upišete lozinku ili podatke kartice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28600" y="1911096"/>
            <a:ext cx="8686800" cy="859536"/>
          </a:xfrm>
          <a:prstGeom prst="rect">
            <a:avLst/>
          </a:prstGeom>
          <a:solidFill>
            <a:srgbClr val="EBF5F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28600" y="1911096"/>
            <a:ext cx="82296" cy="85953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1965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/ Virus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84048" y="23408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Zlonamjerni program koji se instalira na vaš uređaj bez vašeg znanja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28600" y="2889504"/>
            <a:ext cx="868680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28600" y="2889504"/>
            <a:ext cx="82296" cy="85953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4048" y="2944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84048" y="3319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koji zaključa vaše datoteke i traži otkupninu za otključavanje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28600" y="3867912"/>
            <a:ext cx="8686800" cy="859536"/>
          </a:xfrm>
          <a:prstGeom prst="rect">
            <a:avLst/>
          </a:prstGeom>
          <a:solidFill>
            <a:srgbClr val="EBF5F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28600" y="3867912"/>
            <a:ext cx="82296" cy="85953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4048" y="39227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Socijalni inženjering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84048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Psihološka manipulacija – koristi povjerenje, hitnost ili strah da bi vas naveli na akciju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pojmovi – pojmovnik  (2/2)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868680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932688"/>
            <a:ext cx="82296" cy="85953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84048" y="1362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Telefonska prijevara – netko se pretvara da je banka, policija ili tehnička podrška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28600" y="1911096"/>
            <a:ext cx="8686800" cy="859536"/>
          </a:xfrm>
          <a:prstGeom prst="rect">
            <a:avLst/>
          </a:prstGeom>
          <a:solidFill>
            <a:srgbClr val="EBF5F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28600" y="1911096"/>
            <a:ext cx="82296" cy="85953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1965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84048" y="23408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prijevara – lažna tekstualna poruka s lažnom poveznicom ili brojem prevaranta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28600" y="2889504"/>
            <a:ext cx="868680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28600" y="2889504"/>
            <a:ext cx="82296" cy="85953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4048" y="2944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84048" y="3319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Dvofaktorna autentikacija – uz lozinku, i SMS kod ili aplikacija za potvrdu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28600" y="3867912"/>
            <a:ext cx="8686800" cy="859536"/>
          </a:xfrm>
          <a:prstGeom prst="rect">
            <a:avLst/>
          </a:prstGeom>
          <a:solidFill>
            <a:srgbClr val="EBF5F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28600" y="3867912"/>
            <a:ext cx="82296" cy="85953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4048" y="39227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84048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Sigurna stranica – ima lokot (🔒) u adresnoj traci preglednika, koristite uvijek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" y="1371600"/>
            <a:ext cx="1554480" cy="1554480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664208"/>
            <a:ext cx="950976" cy="950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17520" y="13258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PRIJETNJE NA INTERNETU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017520" y="24231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ih prepoznati i zaštititi se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– digitalna zamka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4160520" cy="2423160"/>
          </a:xfrm>
          <a:prstGeom prst="rect">
            <a:avLst/>
          </a:prstGeom>
          <a:solidFill>
            <a:srgbClr val="FEF9E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932688"/>
            <a:ext cx="82296" cy="242316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005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9784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 – SPLIT 2024.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" y="143560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Umirovljenica primila SMS od 'banke'. Link vodio na lažnu stranicu. Upisala PIN → napadač podigao 8.000 € ušteđevine unutar sat vremena.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93268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Znakovi upozorenja: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617720" y="1417320"/>
            <a:ext cx="42976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1490472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83480" y="1435608"/>
            <a:ext cx="3877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Hitnost i strah  ('Račun se zatvara za 24h!')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617720" y="1856232"/>
            <a:ext cx="4297680" cy="39319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1929384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83480" y="1874520"/>
            <a:ext cx="3877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adresa ne odgovara instituciji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617720" y="2295144"/>
            <a:ext cx="42976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368296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83480" y="2313432"/>
            <a:ext cx="3877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Gramatičke greške i čudna formulacija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4617720" y="2734056"/>
            <a:ext cx="4297680" cy="39319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807208"/>
            <a:ext cx="246888" cy="2468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83480" y="2752344"/>
            <a:ext cx="3877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Sumnjiv link  (hpb-banka.com  ≠  hpb.hr)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4617720" y="3172968"/>
            <a:ext cx="42976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3246120"/>
            <a:ext cx="246888" cy="2468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983480" y="3191256"/>
            <a:ext cx="3877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 PIN, lozinku ili broj kartice</a:t>
            </a:r>
            <a:endParaRPr lang="en-US" sz="1500" dirty="0"/>
          </a:p>
        </p:txBody>
      </p:sp>
      <p:sp>
        <p:nvSpPr>
          <p:cNvPr id="30" name="Shape 21"/>
          <p:cNvSpPr/>
          <p:nvPr/>
        </p:nvSpPr>
        <p:spPr>
          <a:xfrm>
            <a:off x="228600" y="3639312"/>
            <a:ext cx="8686800" cy="493776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365760" y="3657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Prava institucija NIKADA ne traži PIN, lozinku ni cijeli broj kartice!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228600" y="422452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niste sigurni – zatvorite poruku i sami upišite adresu banke u preglednik.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Virusi i Ransomware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4160520" cy="2103120"/>
          </a:xfrm>
          <a:prstGeom prst="rect">
            <a:avLst/>
          </a:prstGeom>
          <a:solidFill>
            <a:srgbClr val="EBF5F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932688"/>
            <a:ext cx="82296" cy="210312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93192" y="98755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Računalni virus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93192" y="1481328"/>
            <a:ext cx="385876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Instalira se na uređaj bez znanja.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Krade podatke, šalje neželjenu poštu,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špijunira tipke koje tipkate.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63440" y="932688"/>
            <a:ext cx="4160520" cy="2103120"/>
          </a:xfrm>
          <a:prstGeom prst="rect">
            <a:avLst/>
          </a:prstGeom>
          <a:solidFill>
            <a:srgbClr val="FDEDE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932688"/>
            <a:ext cx="82296" cy="21031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28032" y="98755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828032" y="1481328"/>
            <a:ext cx="385876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Zaključava sve vaše datoteke.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 otkupninu u kriptovalutama.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Čak ni plaćanje ne garantira povrat!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28600" y="3172968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se virus instalira na uređaj?</a:t>
            </a:r>
            <a:endParaRPr lang="en-US" sz="1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7588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6072" y="36576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Privitak e-maila od nepoznatog pošiljatelja  (.exe, .zip, .docx)</a:t>
            </a:r>
            <a:endParaRPr lang="en-US" sz="15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31920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" y="39136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Lažni gumb 'Preuzmite ažuriranje' na sumnjivoj stranici</a:t>
            </a:r>
            <a:endParaRPr lang="en-US" sz="15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1879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" y="416966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Preuzimanje softvera s neslužbenih stranica</a:t>
            </a:r>
            <a:endParaRPr lang="en-US" sz="15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44398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76072" y="44256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Zaraženi USB stick ili vanjski disk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Zaštita od virusa i ransomwarea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4160520" cy="1719072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146304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517904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02412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Defender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234440" y="15727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Ugrađen u Windows – besplatan i dovoljan za osobnu upotrebu. Uvijek držite uključenim.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663440" y="932688"/>
            <a:ext cx="4160520" cy="1719072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0" y="146304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517904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102412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Redovita ažuriranja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669280" y="15727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Android i iOS izdaju sigurnosne zakrpe. Ne odgađajte dulje od tjedan dana.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228600" y="2807208"/>
            <a:ext cx="4160520" cy="1719072"/>
          </a:xfrm>
          <a:prstGeom prst="rect">
            <a:avLst/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11480" y="333756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3392424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289864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(sigurnosna kopija)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234440" y="344728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Fotografije i dokumente pohranite na Google Drive, OneDrive ili vanjski disk.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663440" y="2807208"/>
            <a:ext cx="4160520" cy="1719072"/>
          </a:xfrm>
          <a:prstGeom prst="rect">
            <a:avLst/>
          </a:prstGeom>
          <a:solidFill>
            <a:srgbClr val="C0392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846320" y="333756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3392424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289864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otvarajte nepoznate privitke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669280" y="344728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Privitke od nepoznatih pošiljatelja ne otvarajte – čak ni ako izgledaju bezopasno.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Krađa identiteta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8600" y="93268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Netko koristi vaše podatke da se pretvori da ste vi – podiže kredite, kupuje robu, vrši prijevare.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28600" y="1600200"/>
            <a:ext cx="4160520" cy="3017520"/>
          </a:xfrm>
          <a:prstGeom prst="rect">
            <a:avLst/>
          </a:prstGeom>
          <a:solidFill>
            <a:srgbClr val="FDED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" y="1600200"/>
            <a:ext cx="82296" cy="30175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4048" y="16642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NIKADA NE DIJELITE: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048" y="21579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4048" y="255117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osobne iskaznice ili putovnice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4048" y="2944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i mjesto rođenja + ime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4048" y="3337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Podatke kartice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4048" y="37307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Lozinke i PIN kodove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4048" y="41239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Fotografije dokumenata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663440" y="1600200"/>
            <a:ext cx="4251960" cy="3017520"/>
          </a:xfrm>
          <a:prstGeom prst="rect">
            <a:avLst/>
          </a:prstGeom>
          <a:solidFill>
            <a:srgbClr val="EBF5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0" y="1600200"/>
            <a:ext cx="82296" cy="301752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18888" y="166420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SUMNJATE: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818888" y="215798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Odmah nazovite banku → zamrznite kartice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18888" y="26334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Prijavite policiji  (112)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818888" y="3108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Prijavite MUP-u RH: policija.gov.hr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18888" y="35844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Promijenite lozinke na svim računima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818888" y="405993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Zatražite detaljan izvod transakcija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Romantične i investicijske prijevare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4160520" cy="3822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932688"/>
            <a:ext cx="4160520" cy="5943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9784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Romantična prijevara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338328" y="1645920"/>
            <a:ext cx="3931920" cy="658368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84708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" y="17099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Brzo proglasi ljubav/privrženost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38328" y="2414016"/>
            <a:ext cx="39319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61518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0664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Uvijek ima razlog zašto se ne može sresti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38328" y="3182112"/>
            <a:ext cx="3931920" cy="658368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38328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0664" y="324612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 novac za 'nužnu situaciju'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338328" y="3950208"/>
            <a:ext cx="39319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4151376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0664" y="40142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Savršen profil: vojnik, kirurg, inženjer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4663440" y="932688"/>
            <a:ext cx="4160520" cy="3822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663440" y="932688"/>
            <a:ext cx="4160520" cy="59436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4800600" y="9784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Investicijska prijevara</a:t>
            </a:r>
            <a:endParaRPr lang="en-US" sz="1900" dirty="0"/>
          </a:p>
        </p:txBody>
      </p:sp>
      <p:sp>
        <p:nvSpPr>
          <p:cNvPr id="27" name="Shape 20"/>
          <p:cNvSpPr/>
          <p:nvPr/>
        </p:nvSpPr>
        <p:spPr>
          <a:xfrm>
            <a:off x="4773168" y="1645920"/>
            <a:ext cx="3931920" cy="658368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847088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75504" y="17099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Obećava sigurne, brze zarade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4773168" y="2414016"/>
            <a:ext cx="39319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615184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175504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Kripto, Forex, dionice – lažni prinosi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4773168" y="3182112"/>
            <a:ext cx="3931920" cy="658368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383280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75504" y="324612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Lažno poziva na EU, HNB ili Elona Muska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4773168" y="3950208"/>
            <a:ext cx="39319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151376"/>
            <a:ext cx="256032" cy="25603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175504" y="40142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veće uplate novac nestaje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Opasnosti na društvenim mrežama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8600" y="932688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WhatsApp i Viber – najplodniji teren za prevarante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28600" y="1463040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" y="1463040"/>
            <a:ext cx="82296" cy="132588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3192" y="1554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Lažno dijete u nevolji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93192" y="19933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'Mama, ovo je moj novi broj, trebam hitno pomoć.'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Uvijek nazovite provjeren stari broj!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63440" y="1463040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63440" y="1463040"/>
            <a:ext cx="82296" cy="132588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28032" y="1554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Lažna nagradna igra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28032" y="19933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'Kaufland/Konzum poklon kartica za prvih 500!'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 postoji. Ne klikajte!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28600" y="2926080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28600" y="2926080"/>
            <a:ext cx="82296" cy="132588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3192" y="30175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Poziv za glasanje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93192" y="345643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za glasanje krade vaše podatke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 instalira virus na uređaj.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663440" y="2926080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63440" y="2926080"/>
            <a:ext cx="82296" cy="132588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28032" y="30175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Lažna akcija u dućanu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828032" y="345643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Dućani NE dijele nagrade putem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linkova ili SMS-a.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28600" y="4434840"/>
            <a:ext cx="8686800" cy="5212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65760" y="4453128"/>
            <a:ext cx="8321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Postavite Facebook profil na 'Samo prijatelji'. Nemojte objavljivati adresu ni putovanja.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bankarstvo – zlatna pravila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4160520" cy="1426464"/>
          </a:xfrm>
          <a:prstGeom prst="rect">
            <a:avLst/>
          </a:prstGeom>
          <a:solidFill>
            <a:srgbClr val="1A2E4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1316736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371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024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Koristite samo službenu aplikaciju banke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34440" y="160934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Preuzmite iz App Storea ili Google Playa – nikad klikom na link!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932688"/>
            <a:ext cx="4160520" cy="1426464"/>
          </a:xfrm>
          <a:prstGeom prst="rect">
            <a:avLst/>
          </a:prstGeom>
          <a:solidFill>
            <a:srgbClr val="0D7A8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0" y="1316736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3716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1024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Nikad ne otvarajte bankarstvo na javnom Wi-Fiju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669280" y="160934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Koristite mobilni internet (4G/5G) za osjetljive radnje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28600" y="2505456"/>
            <a:ext cx="4160520" cy="1426464"/>
          </a:xfrm>
          <a:prstGeom prst="rect">
            <a:avLst/>
          </a:prstGeom>
          <a:solidFill>
            <a:srgbClr val="C0392B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11480" y="2889504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2944368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259689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nikada neće tražiti PIN ni lozinku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34440" y="31821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telefonom, ni e-mailom, ni SMS-om – nikad!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663440" y="2505456"/>
            <a:ext cx="4160520" cy="1426464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846320" y="2889504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2944368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259689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Provjeravajte transakcije redovito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69280" y="31821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Postavite SMS obavijesti za svaku transakciju na kartici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228600" y="4087368"/>
            <a:ext cx="8686800" cy="621792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365760" y="4105656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Sigurna stranica: 🔒 https://  →  Domena točna: hpb.hr  ≠  hpb-banka.com  ≠  hpb.hr.support.net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" y="1371600"/>
            <a:ext cx="1554480" cy="1554480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664208"/>
            <a:ext cx="950976" cy="950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17520" y="13258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PRAKTIČNA ZAŠTITA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017520" y="24231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odmah možete napraviti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Lozinke – temelj digitalne sigurnosti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416052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932688"/>
            <a:ext cx="4160520" cy="5120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96926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LOŠE lozinke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29768" y="15179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123456, password, qwerty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9768" y="19933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Vaše ime i godina  (Marija1955)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" y="24688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 kućnog ljubimca  (Floki2020)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9768" y="29443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 lozinka za sve račune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932688"/>
            <a:ext cx="416052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63440" y="932688"/>
            <a:ext cx="4160520" cy="5120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00600" y="96926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DOBRE lozinke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864608" y="15179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Rečenica: 'Moja mačka voli ribu 7x!'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64608" y="19933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Nasumični niz: Tr4@mBo9xQ!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64608" y="24688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Najmanje 12 znakova, mala+velika+broj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64608" y="29443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račun ima svoju lozinku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28600" y="3566160"/>
            <a:ext cx="8686800" cy="1188720"/>
          </a:xfrm>
          <a:prstGeom prst="rect">
            <a:avLst/>
          </a:prstGeom>
          <a:solidFill>
            <a:srgbClr val="EBF5FB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28600" y="3566160"/>
            <a:ext cx="82296" cy="118872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84048" y="3630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Upravitelj lozinki (Password Manager)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84048" y="407822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trebate pamtiti 20 jakih lozinki! Koristite: Bitwarden (besplatan), Google Password Manager ili Apple Keychain.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Dvofaktorna autentikacija i Backup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4160520" cy="379476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463040" y="1069848"/>
            <a:ext cx="1097280" cy="1097280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1188720"/>
            <a:ext cx="676656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228600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65760" y="2971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Dvofaktorna autentikacija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5760" y="347472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Čak i ako netko ukrade lozinku, ne može ući bez SMS koda na vašem telefonu.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" y="422452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Uključite na: e-mail, Facebook, bankarstvo, Google/Apple ID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754880" y="932688"/>
            <a:ext cx="4160520" cy="379476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92240" y="1069848"/>
            <a:ext cx="1097280" cy="1097280"/>
          </a:xfrm>
          <a:prstGeom prst="ellipse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1207008"/>
            <a:ext cx="804672" cy="8046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228600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4892040" y="29718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Sigurnosna kopija podataka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892040" y="347472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Jedina prava zaštita od ransomwarea. Pravilo 3-2-1: 3 kopije, na 2 medija, 1 izvan kuće.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92040" y="422452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Photos, OneDrive, iCloud, vanjski disk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Moja digitalna sigurnost – checklist  (1/2)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8686800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932688"/>
            <a:ext cx="82296" cy="877824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1978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1024128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Provjerio/la sam transakcije na bankovnom računu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228600" y="1847088"/>
            <a:ext cx="8686800" cy="877824"/>
          </a:xfrm>
          <a:prstGeom prst="rect">
            <a:avLst/>
          </a:prstGeom>
          <a:solidFill>
            <a:srgbClr val="EBF5FB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28600" y="1847088"/>
            <a:ext cx="82296" cy="877824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11226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1938528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Nisam kliknuo/la na sumnjive linkove u porukama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228600" y="2761488"/>
            <a:ext cx="8686800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228600" y="2761488"/>
            <a:ext cx="82296" cy="877824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02666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2852928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Lozinke su različite za svaki važan račun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228600" y="3675888"/>
            <a:ext cx="8686800" cy="877824"/>
          </a:xfrm>
          <a:prstGeom prst="rect">
            <a:avLst/>
          </a:prstGeom>
          <a:solidFill>
            <a:srgbClr val="EBF5FB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228600" y="3675888"/>
            <a:ext cx="82296" cy="877824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94106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3767328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telefonu imam zaključani zaslon (PIN ili otisak prsta)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Moja digitalna sigurnost – checklist  (2/2)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32688"/>
            <a:ext cx="8686800" cy="722376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932688"/>
            <a:ext cx="82296" cy="72237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1201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1024128"/>
            <a:ext cx="7863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Antivirusni program je ažuran  (Windows Defender)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228600" y="1691640"/>
            <a:ext cx="8686800" cy="722376"/>
          </a:xfrm>
          <a:prstGeom prst="rect">
            <a:avLst/>
          </a:prstGeom>
          <a:solidFill>
            <a:srgbClr val="EBF5FB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28600" y="1691640"/>
            <a:ext cx="82296" cy="72237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87909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1783080"/>
            <a:ext cx="7863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Koristim 2FA za e-mail i bankovni račun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228600" y="2450592"/>
            <a:ext cx="8686800" cy="722376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228600" y="2450592"/>
            <a:ext cx="82296" cy="72237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63804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2542032"/>
            <a:ext cx="7863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Sigurnosna kopija fotografija je napravljena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228600" y="3209544"/>
            <a:ext cx="8686800" cy="722376"/>
          </a:xfrm>
          <a:prstGeom prst="rect">
            <a:avLst/>
          </a:prstGeom>
          <a:solidFill>
            <a:srgbClr val="EBF5FB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228600" y="3209544"/>
            <a:ext cx="82296" cy="72237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9699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3300984"/>
            <a:ext cx="7863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na Facebooku je postavljen na 'Samo prijatelji'</a:t>
            </a:r>
            <a:endParaRPr lang="en-US" sz="1900" dirty="0"/>
          </a:p>
        </p:txBody>
      </p:sp>
      <p:sp>
        <p:nvSpPr>
          <p:cNvPr id="25" name="Shape 18"/>
          <p:cNvSpPr/>
          <p:nvPr/>
        </p:nvSpPr>
        <p:spPr>
          <a:xfrm>
            <a:off x="228600" y="3968496"/>
            <a:ext cx="8686800" cy="722376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228600" y="3968496"/>
            <a:ext cx="82296" cy="722376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155948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1248" y="4059936"/>
            <a:ext cx="7863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 broj: 112 (policija) i broj banke s poleđine kartice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18872"/>
            <a:ext cx="585216" cy="585216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 se javiti u slučaju prijevare?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2880" y="932688"/>
            <a:ext cx="2788920" cy="1627632"/>
          </a:xfrm>
          <a:prstGeom prst="rect">
            <a:avLst/>
          </a:prstGeom>
          <a:solidFill>
            <a:srgbClr val="C0392B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" y="141732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72184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102412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Policija (hitno)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15568" y="1572768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ili najbliža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policijska postaja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154680" y="932688"/>
            <a:ext cx="2788920" cy="1627632"/>
          </a:xfrm>
          <a:prstGeom prst="rect">
            <a:avLst/>
          </a:prstGeom>
          <a:solidFill>
            <a:srgbClr val="1A2E4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300984" y="141732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472184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87368" y="102412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MUP RH – online prijava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087368" y="1572768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policija.gov.hr/prevencija/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racunalnasigurnost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932688"/>
            <a:ext cx="2788920" cy="1627632"/>
          </a:xfrm>
          <a:prstGeom prst="rect">
            <a:avLst/>
          </a:prstGeom>
          <a:solidFill>
            <a:srgbClr val="0D7A8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72784" y="141732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472184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9168" y="102412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AZOP – zaštita podataka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59168" y="1572768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azop.hr – za zlouporabu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osobnih podataka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182880" y="2715768"/>
            <a:ext cx="2788920" cy="1627632"/>
          </a:xfrm>
          <a:prstGeom prst="rect">
            <a:avLst/>
          </a:prstGeom>
          <a:solidFill>
            <a:srgbClr val="E8A02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29184" y="320040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255264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15568" y="280720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Vaša banka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115568" y="3355848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s poleđine kartice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 službena stranica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3154680" y="2715768"/>
            <a:ext cx="2788920" cy="1627632"/>
          </a:xfrm>
          <a:prstGeom prst="rect">
            <a:avLst/>
          </a:prstGeom>
          <a:solidFill>
            <a:srgbClr val="6C3483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3300984" y="320040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255264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087368" y="280720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Nacionalni CERT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087368" y="3355848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cert.hr – tehnička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126480" y="2715768"/>
            <a:ext cx="2788920" cy="1627632"/>
          </a:xfrm>
          <a:prstGeom prst="rect">
            <a:avLst/>
          </a:prstGeom>
          <a:solidFill>
            <a:srgbClr val="1E8449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6272784" y="3200400"/>
            <a:ext cx="658368" cy="6583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255264"/>
            <a:ext cx="548640" cy="5486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59168" y="280720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Faktograf.hr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7059168" y="3355848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Provjera lažnih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vijesti za Hrvatsku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914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DIGITALNIH HIGIJENSKIH PRAVILA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68096"/>
            <a:ext cx="4160520" cy="731520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84124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Nikad ne klikam na linkove u sumnjivim porukama.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600200"/>
            <a:ext cx="4160520" cy="731520"/>
          </a:xfrm>
          <a:prstGeom prst="rect">
            <a:avLst/>
          </a:prstGeom>
          <a:solidFill>
            <a:srgbClr val="243B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167335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me nikad ne traži PIN, lozinku ni broj kartice.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2432304"/>
            <a:ext cx="4160520" cy="731520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" y="250545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račun ima svoju lozinku.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3264408"/>
            <a:ext cx="4160520" cy="731520"/>
          </a:xfrm>
          <a:prstGeom prst="rect">
            <a:avLst/>
          </a:prstGeom>
          <a:solidFill>
            <a:srgbClr val="243B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" y="333756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javnom Wi-Fiju ne provjeravam bankovni račun.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4096512"/>
            <a:ext cx="4160520" cy="731520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4270248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416966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Ažuriranja instaliram redovito.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768096"/>
            <a:ext cx="4160520" cy="731520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941832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0368" y="84124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fotografija radim barem jednom tjedno.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1600200"/>
            <a:ext cx="4160520" cy="731520"/>
          </a:xfrm>
          <a:prstGeom prst="rect">
            <a:avLst/>
          </a:prstGeom>
          <a:solidFill>
            <a:srgbClr val="243B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1773936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30368" y="167335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Dvofaktornu autentikaciju koristim gdje je moguće.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2432304"/>
            <a:ext cx="4160520" cy="731520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2606040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30368" y="250545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Neočekivanu 'nagradu' odmah sumnjim.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63440" y="3264408"/>
            <a:ext cx="4160520" cy="731520"/>
          </a:xfrm>
          <a:prstGeom prst="rect">
            <a:avLst/>
          </a:prstGeom>
          <a:solidFill>
            <a:srgbClr val="243B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438144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30368" y="333756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Strancu ne dajem OIB, broj kartice ni adresu.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663440" y="4096512"/>
            <a:ext cx="4160520" cy="731520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4270248"/>
            <a:ext cx="384048" cy="384048"/>
          </a:xfrm>
          <a:prstGeom prst="ellipse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30368" y="416966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sumnji: zatvaram, zovem banku ili policiju.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 | RaST Smart City Lab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1485</Words>
  <Application>Microsoft Office PowerPoint</Application>
  <PresentationFormat>On-screen Show (16:9)</PresentationFormat>
  <Paragraphs>258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Sigurnost na internetu</dc:title>
  <dc:subject>PptxGenJS Presentation</dc:subject>
  <dc:creator>PptxGenJS</dc:creator>
  <cp:lastModifiedBy>Bruno Bilandžić</cp:lastModifiedBy>
  <cp:revision>2</cp:revision>
  <dcterms:created xsi:type="dcterms:W3CDTF">2026-03-20T09:38:34Z</dcterms:created>
  <dcterms:modified xsi:type="dcterms:W3CDTF">2026-03-20T09:43:45Z</dcterms:modified>
</cp:coreProperties>
</file>